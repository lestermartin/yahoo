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AB667A0-01FD-0CF9-082A-07484487AEA5}">
          <p14:sldIdLst>
            <p14:sldId id="256"/>
            <p14:sldId id="257"/>
            <p14:sldId id="258"/>
          </p14:sldIdLst>
        </p14:section>
        <p14:section name="Part 1 - Create the database" id="{4C3BC02B-746C-6180-C374-04C1E36459C1}">
          <p14:sldIdLst>
            <p14:sldId id="259"/>
            <p14:sldId id="260"/>
            <p14:sldId id="261"/>
            <p14:sldId id="262"/>
            <p14:sldId id="263"/>
          </p14:sldIdLst>
        </p14:section>
        <p14:section name="Part 2 - Open port 5432 to your /24" id="{D3E1E9D7-8131-B2BB-DF3F-396688ADB274}">
          <p14:sldIdLst>
            <p14:sldId id="264"/>
            <p14:sldId id="265"/>
            <p14:sldId id="266"/>
            <p14:sldId id="267"/>
          </p14:sldIdLst>
        </p14:section>
        <p14:section name="Part 3 - Connect with pgAdmin" id="{568B4762-0F9A-74E1-D728-99B21064DA4B}">
          <p14:sldIdLst>
            <p14:sldId id="268"/>
            <p14:sldId id="269"/>
            <p14:sldId id="270"/>
            <p14:sldId id="271"/>
            <p14:sldId id="272"/>
          </p14:sldIdLst>
        </p14:section>
        <p14:section name="Part 4 - Cleanup" id="{70829022-E5A5-C887-8F5C-BA9332C304C5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849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walkthrough: create a free-tier PostgreSQL RDS instance in the default VPC, restrict access to the student's /24, and connect with pgAdmin. Budget about 30 minutes, most of it waiting for the instance to become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instance gets a public IP when Public access = Yes, but the security group is what actually decides who can reach port 5432.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confirm the default VPC before anything else. If they deleted it: VPC console &gt; Actions &gt; Create default VPC.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Standard create. Easy create hides the VPC and public access choices we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master password is the real protection once the port is reachable from the internet. Insist on something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access = Yes only assigns a public IP. Nothing can connect until the security group allows it (Part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initial database name is blank, RDS creates no database besides the default 'postgres'. Students then connect to 'postgres'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wait to explain the free tier: 750 instance-hours per month, 20 GB storage, 20 GB backups. Public IPv4 addresses may be billed separately; check current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checkip returns an IPv6 address (colons), use curl -4 to force IPv4, or add a separate IPv6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one-liner prints the CIDR directly. Good moment to discuss CIDR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Deleting the wizard rule matters: otherwise a stale rule may still be admitting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the original open-to-the-internet rule. Optional demo: show 0.0.0.0/0 only as a bad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pgAdmin master password is unrelated to the database password. Remind students not to confuse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 password only on a personal machine. Leave it unchecked on shared or lab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RDS supports SSL out of the box, so require works without importing a certificate for this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exploration: right-click the hello table, View/Edit Data, All Rows; show the server Dashboard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failures are the security group or a changed IP. Check there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Forgotten instances are the most common surprise bill. Suggest a billing alarm or AWS Budget before starting.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which part of the setup they would change for a production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AWS  ·  AMAZON RDS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Create a Free-Tier PostgreSQL Instance on Amazon RDS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Default VPC  ·  Port 5432 restricted to your /24  ·  Connect with pgAdmin</a:t>
            </a:r>
            <a:endParaRPr lang="en-US" sz="1800" dirty="0"/>
          </a:p>
        </p:txBody>
      </p:sp>
      <p:sp>
        <p:nvSpPr>
          <p:cNvPr id="5" name="Icon circle"/>
          <p:cNvSpPr/>
          <p:nvPr/>
        </p:nvSpPr>
        <p:spPr>
          <a:xfrm>
            <a:off x="7589520" y="3840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490" y="405445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OVERVIEW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 are building</a:t>
            </a:r>
            <a:endParaRPr lang="en-US" sz="3200" dirty="0"/>
          </a:p>
        </p:txBody>
      </p:sp>
      <p:sp>
        <p:nvSpPr>
          <p:cNvPr id="4" name="VPC boundary"/>
          <p:cNvSpPr/>
          <p:nvPr/>
        </p:nvSpPr>
        <p:spPr>
          <a:xfrm>
            <a:off x="4526280" y="1508760"/>
            <a:ext cx="4206240" cy="2286000"/>
          </a:xfrm>
          <a:prstGeom prst="roundRect">
            <a:avLst>
              <a:gd name="adj" fmla="val 4000"/>
            </a:avLst>
          </a:prstGeom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6634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Default VPC</a:t>
            </a:r>
            <a:endParaRPr lang="en-US" sz="1200" dirty="0"/>
          </a:p>
        </p:txBody>
      </p:sp>
      <p:sp>
        <p:nvSpPr>
          <p:cNvPr id="6" name="Diagram box"/>
          <p:cNvSpPr/>
          <p:nvPr/>
        </p:nvSpPr>
        <p:spPr>
          <a:xfrm>
            <a:off x="457200" y="196596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Icon circle"/>
          <p:cNvSpPr/>
          <p:nvPr/>
        </p:nvSpPr>
        <p:spPr>
          <a:xfrm>
            <a:off x="1051560" y="2103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81" y="22695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Your workstation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pgAdmin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86000" y="2761488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agram box"/>
          <p:cNvSpPr/>
          <p:nvPr/>
        </p:nvSpPr>
        <p:spPr>
          <a:xfrm>
            <a:off x="2560320" y="196596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Icon circle"/>
          <p:cNvSpPr/>
          <p:nvPr/>
        </p:nvSpPr>
        <p:spPr>
          <a:xfrm>
            <a:off x="3154680" y="21031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101" y="226954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56032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Internet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56032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public IP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389120" y="2761488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agram box"/>
          <p:cNvSpPr/>
          <p:nvPr/>
        </p:nvSpPr>
        <p:spPr>
          <a:xfrm>
            <a:off x="4663440" y="196596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Icon circle"/>
          <p:cNvSpPr/>
          <p:nvPr/>
        </p:nvSpPr>
        <p:spPr>
          <a:xfrm>
            <a:off x="525780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221" y="226954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344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Security group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66344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5432 from your /24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92240" y="2761488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Diagram box"/>
          <p:cNvSpPr/>
          <p:nvPr/>
        </p:nvSpPr>
        <p:spPr>
          <a:xfrm>
            <a:off x="6766560" y="196596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Icon circle"/>
          <p:cNvSpPr/>
          <p:nvPr/>
        </p:nvSpPr>
        <p:spPr>
          <a:xfrm>
            <a:off x="7360920" y="21031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341" y="226954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6656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RDS PostgreSQL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7665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free tier, public</a:t>
            </a:r>
            <a:endParaRPr lang="en-US" sz="1200" dirty="0"/>
          </a:p>
        </p:txBody>
      </p:sp>
      <p:sp>
        <p:nvSpPr>
          <p:cNvPr id="29" name="Bullets"/>
          <p:cNvSpPr txBox="1"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Part 1</a:t>
            </a:r>
            <a:r>
              <a:rPr lang="en-US" sz="1300" dirty="0">
                <a:solidFill>
                  <a:schemeClr val="tx1"/>
                </a:solidFill>
              </a:rPr>
              <a:t> Create the database in the console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Part 2</a:t>
            </a:r>
            <a:r>
              <a:rPr lang="en-US" sz="1300" dirty="0">
                <a:solidFill>
                  <a:schemeClr val="tx1"/>
                </a:solidFill>
              </a:rPr>
              <a:t> Open port 5432 to your /24 only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Part 3</a:t>
            </a:r>
            <a:r>
              <a:rPr lang="en-US" sz="1300" dirty="0">
                <a:solidFill>
                  <a:schemeClr val="tx1"/>
                </a:solidFill>
              </a:rPr>
              <a:t> Connect with pgAdmin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Part 4</a:t>
            </a:r>
            <a:r>
              <a:rPr lang="en-US" sz="1300" dirty="0">
                <a:solidFill>
                  <a:schemeClr val="tx1"/>
                </a:solidFill>
              </a:rPr>
              <a:t> Clean up so nothing bills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BEFORE WE START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Prerequisites</a:t>
            </a:r>
            <a:endParaRPr lang="en-US" sz="3200" dirty="0"/>
          </a:p>
        </p:txBody>
      </p:sp>
      <p:sp>
        <p:nvSpPr>
          <p:cNvPr id="4" name="Prereq card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Icon circle"/>
          <p:cNvSpPr/>
          <p:nvPr/>
        </p:nvSpPr>
        <p:spPr>
          <a:xfrm>
            <a:off x="685800" y="17373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9156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4630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AWS account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Billing set up. Know whether it is on the credit-based Free plan.</a:t>
            </a:r>
            <a:endParaRPr lang="en-US" sz="1600" dirty="0"/>
          </a:p>
        </p:txBody>
      </p:sp>
      <p:sp>
        <p:nvSpPr>
          <p:cNvPr id="8" name="Prereq card"/>
          <p:cNvSpPr/>
          <p:nvPr/>
        </p:nvSpPr>
        <p:spPr>
          <a:xfrm>
            <a:off x="4663440" y="137160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Icon circle"/>
          <p:cNvSpPr/>
          <p:nvPr/>
        </p:nvSpPr>
        <p:spPr>
          <a:xfrm>
            <a:off x="4892040" y="1737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48" y="19156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4630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region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Everyone uses the same one, for example us-east-1.</a:t>
            </a:r>
            <a:endParaRPr lang="en-US" sz="1600" dirty="0"/>
          </a:p>
        </p:txBody>
      </p:sp>
      <p:sp>
        <p:nvSpPr>
          <p:cNvPr id="12" name="Prereq card"/>
          <p:cNvSpPr/>
          <p:nvPr/>
        </p:nvSpPr>
        <p:spPr>
          <a:xfrm>
            <a:off x="457200" y="297180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Icon circle"/>
          <p:cNvSpPr/>
          <p:nvPr/>
        </p:nvSpPr>
        <p:spPr>
          <a:xfrm>
            <a:off x="685800" y="33375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351586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0632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Default VPC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VPC console, Your VPCs, Default VPC = Yes. Recreate it if deleted.</a:t>
            </a:r>
            <a:endParaRPr lang="en-US" sz="1600" dirty="0"/>
          </a:p>
        </p:txBody>
      </p:sp>
      <p:sp>
        <p:nvSpPr>
          <p:cNvPr id="16" name="Prereq card"/>
          <p:cNvSpPr/>
          <p:nvPr/>
        </p:nvSpPr>
        <p:spPr>
          <a:xfrm>
            <a:off x="4663440" y="297180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Icon circle"/>
          <p:cNvSpPr/>
          <p:nvPr/>
        </p:nvSpPr>
        <p:spPr>
          <a:xfrm>
            <a:off x="4892040" y="333756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348" y="351586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60720" y="30632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pgAdmin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Already installed on the workstation. Optional: psql.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1 · CREATE THE DATABASE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Start the wizard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</a:rPr>
              <a:t>Sign in</a:t>
            </a:r>
            <a:r>
              <a:rPr lang="en-US" sz="1400" dirty="0">
                <a:solidFill>
                  <a:schemeClr val="tx1"/>
                </a:solidFill>
              </a:rPr>
              <a:t> to the console and set your region to </a:t>
            </a:r>
            <a:r>
              <a:rPr lang="en-US" sz="1400" b="1" dirty="0">
                <a:solidFill>
                  <a:schemeClr val="tx1"/>
                </a:solidFill>
              </a:rPr>
              <a:t>United States (N. Virginia)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</a:rPr>
              <a:t>Open RDS</a:t>
            </a:r>
            <a:r>
              <a:rPr lang="en-US" sz="1400" dirty="0">
                <a:solidFill>
                  <a:schemeClr val="tx1"/>
                </a:solidFill>
              </a:rPr>
              <a:t> and choose Databases, then </a:t>
            </a:r>
            <a:r>
              <a:rPr lang="en-US" sz="1400" b="1" dirty="0">
                <a:solidFill>
                  <a:schemeClr val="tx1"/>
                </a:solidFill>
              </a:rPr>
              <a:t>Create database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</a:rPr>
              <a:t>Full configuration.</a:t>
            </a:r>
            <a:r>
              <a:rPr lang="en-US" sz="1400" dirty="0">
                <a:solidFill>
                  <a:schemeClr val="tx1"/>
                </a:solidFill>
              </a:rPr>
              <a:t> Not Express configuration, which hides the networking options.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</a:rPr>
              <a:t>Engine:</a:t>
            </a:r>
            <a:r>
              <a:rPr lang="en-US" sz="1400" dirty="0">
                <a:solidFill>
                  <a:schemeClr val="tx1"/>
                </a:solidFill>
              </a:rPr>
              <a:t> PostgreSQL, not Aurora.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</a:rPr>
              <a:t>Template:</a:t>
            </a:r>
            <a:r>
              <a:rPr lang="en-US" sz="1400" dirty="0">
                <a:solidFill>
                  <a:schemeClr val="tx1"/>
                </a:solidFill>
              </a:rPr>
              <a:t> Free tier. It preselects a free-tier instance and single-AZ.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13AF0B-A59C-E366-47C2-BA6C54B2D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527" y="1432044"/>
            <a:ext cx="4304946" cy="2891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1 · CREATE THE DATABASE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Settings and instance size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Identifier: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i="1" dirty="0">
                <a:solidFill>
                  <a:schemeClr val="tx1"/>
                </a:solidFill>
              </a:rPr>
              <a:t>&lt;</a:t>
            </a:r>
            <a:r>
              <a:rPr lang="en-US" sz="1400" i="1" dirty="0" err="1">
                <a:solidFill>
                  <a:schemeClr val="tx1"/>
                </a:solidFill>
              </a:rPr>
              <a:t>YourName</a:t>
            </a:r>
            <a:r>
              <a:rPr lang="en-US" sz="1400" i="1" dirty="0">
                <a:solidFill>
                  <a:schemeClr val="tx1"/>
                </a:solidFill>
              </a:rPr>
              <a:t>&gt;</a:t>
            </a:r>
            <a:r>
              <a:rPr lang="en-US" sz="1400" dirty="0">
                <a:solidFill>
                  <a:schemeClr val="tx1"/>
                </a:solidFill>
              </a:rPr>
              <a:t>-db-1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Master username:</a:t>
            </a:r>
            <a:r>
              <a:rPr lang="en-US" sz="1400" dirty="0">
                <a:solidFill>
                  <a:schemeClr val="tx1"/>
                </a:solidFill>
              </a:rPr>
              <a:t> postgres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Credentials:</a:t>
            </a:r>
            <a:r>
              <a:rPr lang="en-US" sz="1400" dirty="0">
                <a:solidFill>
                  <a:schemeClr val="tx1"/>
                </a:solidFill>
              </a:rPr>
              <a:t> Self managed. Secrets Manager is not free.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Password:</a:t>
            </a:r>
            <a:r>
              <a:rPr lang="en-US" sz="1400" dirty="0">
                <a:solidFill>
                  <a:schemeClr val="tx1"/>
                </a:solidFill>
              </a:rPr>
              <a:t> strong, entered twice. Write it down.</a:t>
            </a:r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Additional credentials settings &gt; DB auth options:</a:t>
            </a:r>
            <a:r>
              <a:rPr lang="en-US" sz="1400" dirty="0"/>
              <a:t> Password authentication.</a:t>
            </a:r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Instance class:</a:t>
            </a:r>
            <a:r>
              <a:rPr lang="en-US" sz="1400" dirty="0">
                <a:solidFill>
                  <a:schemeClr val="tx1"/>
                </a:solidFill>
              </a:rPr>
              <a:t> db.t3.micro or db.t4g.micro (free-tier eligible).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966E4B-A26C-362B-5845-72F36E991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985" y="1454891"/>
            <a:ext cx="4316279" cy="2899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1 · CREATE THE DATABASE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Storage and connectivity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28016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1"/>
            </a:pPr>
            <a:r>
              <a:rPr lang="en-US" sz="1400" b="1" dirty="0">
                <a:solidFill>
                  <a:schemeClr val="tx2"/>
                </a:solidFill>
              </a:rPr>
              <a:t>Storage:</a:t>
            </a:r>
            <a:r>
              <a:rPr lang="en-US" sz="1400" dirty="0">
                <a:solidFill>
                  <a:schemeClr val="tx1"/>
                </a:solidFill>
              </a:rPr>
              <a:t> General Purpose SSD, 20 GiB (the free-tier maximum).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1"/>
            </a:pPr>
            <a:r>
              <a:rPr lang="en-US" sz="1400" b="1" dirty="0">
                <a:solidFill>
                  <a:schemeClr val="tx2"/>
                </a:solidFill>
              </a:rPr>
              <a:t>Additional storage config &gt; Storage autoscaling:</a:t>
            </a:r>
            <a:r>
              <a:rPr lang="en-US" sz="1400" dirty="0">
                <a:solidFill>
                  <a:schemeClr val="tx1"/>
                </a:solidFill>
              </a:rPr>
              <a:t> turn it off.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1"/>
            </a:pPr>
            <a:r>
              <a:rPr lang="en-US" sz="1400" b="1" dirty="0">
                <a:solidFill>
                  <a:schemeClr val="tx2"/>
                </a:solidFill>
              </a:rPr>
              <a:t>Compute resource:</a:t>
            </a:r>
            <a:r>
              <a:rPr lang="en-US" sz="1400" dirty="0">
                <a:solidFill>
                  <a:schemeClr val="tx1"/>
                </a:solidFill>
              </a:rPr>
              <a:t> Don't connect to an EC2 compute resource.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1"/>
            </a:pPr>
            <a:r>
              <a:rPr lang="en-US" sz="1400" b="1" dirty="0">
                <a:solidFill>
                  <a:schemeClr val="tx2"/>
                </a:solidFill>
              </a:rPr>
              <a:t>VPC:</a:t>
            </a:r>
            <a:r>
              <a:rPr lang="en-US" sz="1400" dirty="0">
                <a:solidFill>
                  <a:schemeClr val="tx1"/>
                </a:solidFill>
              </a:rPr>
              <a:t> the default VPC. Subnet group: default.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1"/>
            </a:pPr>
            <a:r>
              <a:rPr lang="en-US" sz="1400" b="1" dirty="0">
                <a:solidFill>
                  <a:schemeClr val="tx2"/>
                </a:solidFill>
              </a:rPr>
              <a:t>Public access:</a:t>
            </a:r>
            <a:r>
              <a:rPr lang="en-US" sz="1400" dirty="0">
                <a:solidFill>
                  <a:schemeClr val="tx1"/>
                </a:solidFill>
              </a:rPr>
              <a:t> Yes.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1"/>
            </a:pPr>
            <a:r>
              <a:rPr lang="en-US" sz="1400" dirty="0">
                <a:solidFill>
                  <a:schemeClr val="tx1"/>
                </a:solidFill>
              </a:rPr>
              <a:t>Create new, named </a:t>
            </a:r>
            <a:r>
              <a:rPr lang="en-US" sz="1400" i="1" dirty="0">
                <a:solidFill>
                  <a:schemeClr val="tx1"/>
                </a:solidFill>
              </a:rPr>
              <a:t>&lt;</a:t>
            </a:r>
            <a:r>
              <a:rPr lang="en-US" sz="1400" i="1" dirty="0" err="1">
                <a:solidFill>
                  <a:schemeClr val="tx1"/>
                </a:solidFill>
              </a:rPr>
              <a:t>YourName</a:t>
            </a:r>
            <a:r>
              <a:rPr lang="en-US" sz="1400" i="1" dirty="0">
                <a:solidFill>
                  <a:schemeClr val="tx1"/>
                </a:solidFill>
              </a:rPr>
              <a:t>&gt;</a:t>
            </a:r>
            <a:r>
              <a:rPr lang="en-US" sz="1400" dirty="0">
                <a:solidFill>
                  <a:schemeClr val="tx1"/>
                </a:solidFill>
              </a:rPr>
              <a:t>-</a:t>
            </a:r>
            <a:r>
              <a:rPr lang="en-US" sz="1400" dirty="0" err="1">
                <a:solidFill>
                  <a:schemeClr val="tx1"/>
                </a:solidFill>
              </a:rPr>
              <a:t>db</a:t>
            </a:r>
            <a:r>
              <a:rPr lang="en-US" sz="1400" dirty="0">
                <a:solidFill>
                  <a:schemeClr val="tx1"/>
                </a:solidFill>
              </a:rPr>
              <a:t>-sg, </a:t>
            </a:r>
            <a:r>
              <a:rPr lang="en-US" sz="1400" b="1" dirty="0">
                <a:solidFill>
                  <a:schemeClr val="tx1"/>
                </a:solidFill>
              </a:rPr>
              <a:t>Security group</a:t>
            </a:r>
            <a:r>
              <a:rPr lang="en-US" sz="1400" dirty="0">
                <a:solidFill>
                  <a:schemeClr val="tx1"/>
                </a:solidFill>
              </a:rPr>
              <a:t>. Port 5432 under </a:t>
            </a:r>
            <a:r>
              <a:rPr lang="en-US" sz="1400" b="1" dirty="0">
                <a:solidFill>
                  <a:schemeClr val="tx1"/>
                </a:solidFill>
              </a:rPr>
              <a:t>Additional config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D29D17-2ACB-7B38-A2CE-0FA6E546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814" y="1463040"/>
            <a:ext cx="4316480" cy="2899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1 · CREATE THE DATABASE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Finish and create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7"/>
            </a:pPr>
            <a:r>
              <a:rPr lang="en-US" sz="1400" b="1" dirty="0">
                <a:solidFill>
                  <a:schemeClr val="tx2"/>
                </a:solidFill>
              </a:rPr>
              <a:t>Monitoring:</a:t>
            </a:r>
            <a:r>
              <a:rPr lang="en-US" sz="1400" dirty="0">
                <a:solidFill>
                  <a:schemeClr val="tx1"/>
                </a:solidFill>
              </a:rPr>
              <a:t> leave Performance Insights and Enhanced Monitoring off.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7"/>
            </a:pPr>
            <a:r>
              <a:rPr lang="en-US" sz="1400" b="1" dirty="0">
                <a:solidFill>
                  <a:schemeClr val="tx2"/>
                </a:solidFill>
              </a:rPr>
              <a:t>Additional configuration:</a:t>
            </a:r>
            <a:r>
              <a:rPr lang="en-US" sz="1400" dirty="0">
                <a:solidFill>
                  <a:schemeClr val="tx1"/>
                </a:solidFill>
              </a:rPr>
              <a:t> initial database name </a:t>
            </a:r>
            <a:r>
              <a:rPr lang="en-US" sz="1400" dirty="0" err="1"/>
              <a:t>test_</a:t>
            </a:r>
            <a:r>
              <a:rPr lang="en-US" sz="1400" dirty="0" err="1">
                <a:solidFill>
                  <a:schemeClr val="tx1"/>
                </a:solidFill>
              </a:rPr>
              <a:t>db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7"/>
            </a:pPr>
            <a:r>
              <a:rPr lang="en-US" sz="1400" b="1" dirty="0">
                <a:solidFill>
                  <a:schemeClr val="tx2"/>
                </a:solidFill>
              </a:rPr>
              <a:t>Backups and protection:</a:t>
            </a:r>
            <a:r>
              <a:rPr lang="en-US" sz="1400" dirty="0">
                <a:solidFill>
                  <a:schemeClr val="tx1"/>
                </a:solidFill>
              </a:rPr>
              <a:t> short retention, deletion protection off for easy cleanup.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7"/>
            </a:pPr>
            <a:r>
              <a:rPr lang="en-US" sz="1400" b="1" dirty="0">
                <a:solidFill>
                  <a:schemeClr val="tx2"/>
                </a:solidFill>
              </a:rPr>
              <a:t>Check the cost panel,</a:t>
            </a:r>
            <a:r>
              <a:rPr lang="en-US" sz="1400" dirty="0">
                <a:solidFill>
                  <a:schemeClr val="tx1"/>
                </a:solidFill>
              </a:rPr>
              <a:t> then click Create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333117-9972-DF31-BD92-988D36DEB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103" y="1413058"/>
            <a:ext cx="4298601" cy="28877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1 · CREATE THE DATABASE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Wait, then copy the endpoint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22"/>
            </a:pPr>
            <a:r>
              <a:rPr lang="en-US" sz="1400" b="1" dirty="0">
                <a:solidFill>
                  <a:schemeClr val="tx2"/>
                </a:solidFill>
              </a:rPr>
              <a:t>Wait 5 to 10 minutes</a:t>
            </a:r>
            <a:r>
              <a:rPr lang="en-US" sz="1400" dirty="0">
                <a:solidFill>
                  <a:schemeClr val="tx1"/>
                </a:solidFill>
              </a:rPr>
              <a:t> until Status = Available.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22"/>
            </a:pPr>
            <a:r>
              <a:rPr lang="en-US" sz="1400" b="1" dirty="0">
                <a:solidFill>
                  <a:schemeClr val="tx2"/>
                </a:solidFill>
              </a:rPr>
              <a:t>Open the instance</a:t>
            </a:r>
            <a:r>
              <a:rPr lang="en-US" sz="1400" dirty="0">
                <a:solidFill>
                  <a:schemeClr val="tx1"/>
                </a:solidFill>
              </a:rPr>
              <a:t> and find the Connectivity &amp; security tab.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22"/>
            </a:pPr>
            <a:r>
              <a:rPr lang="en-US" sz="1400" b="1" dirty="0">
                <a:solidFill>
                  <a:schemeClr val="tx2"/>
                </a:solidFill>
              </a:rPr>
              <a:t>Copy the Endpoint.</a:t>
            </a:r>
            <a:r>
              <a:rPr lang="en-US" sz="1400" dirty="0">
                <a:solidFill>
                  <a:schemeClr val="tx1"/>
                </a:solidFill>
              </a:rPr>
              <a:t> You will paste it into pgAdmin in Part 3.</a:t>
            </a:r>
            <a:endParaRPr lang="en-US" sz="1400" dirty="0"/>
          </a:p>
        </p:txBody>
      </p:sp>
      <p:sp>
        <p:nvSpPr>
          <p:cNvPr id="5" name="Callout"/>
          <p:cNvSpPr/>
          <p:nvPr/>
        </p:nvSpPr>
        <p:spPr>
          <a:xfrm>
            <a:off x="457200" y="3429000"/>
            <a:ext cx="41148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allout text"/>
          <p:cNvSpPr txBox="1"/>
          <p:nvPr/>
        </p:nvSpPr>
        <p:spPr>
          <a:xfrm>
            <a:off x="640080" y="34290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Example endpoint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/>
              <a:t>n</a:t>
            </a:r>
            <a:r>
              <a:rPr lang="en-US" sz="1300" dirty="0">
                <a:solidFill>
                  <a:schemeClr val="tx1"/>
                </a:solidFill>
              </a:rPr>
              <a:t>ame-db-1.abc123xyz.us-east-1.rds.amazonaws.com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17A7E8-9A17-D867-2B30-D174C173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79" y="1371600"/>
            <a:ext cx="4302637" cy="28904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2 · RESTRICT ACCESS TO YOUR /24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A: find your public IP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the public address the internet sees, not your private 192.168.x.x address.</a:t>
            </a:r>
            <a:endParaRPr lang="en-US" sz="1400" dirty="0"/>
          </a:p>
        </p:txBody>
      </p:sp>
      <p:sp>
        <p:nvSpPr>
          <p:cNvPr id="7" name="Bullets"/>
          <p:cNvSpPr txBox="1"/>
          <p:nvPr/>
        </p:nvSpPr>
        <p:spPr>
          <a:xfrm>
            <a:off x="457200" y="269748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 browse to checkip.amazonaws.com.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 in the security group editor, set Source to My IP and copy the address (it fills in a /32).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Example result: 203.0.113.57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12" name="Code box">
            <a:extLst>
              <a:ext uri="{FF2B5EF4-FFF2-40B4-BE49-F238E27FC236}">
                <a16:creationId xmlns:a16="http://schemas.microsoft.com/office/drawing/2014/main" id="{0236F971-53CC-7D29-8CB3-86112F85DCA3}"/>
              </a:ext>
            </a:extLst>
          </p:cNvPr>
          <p:cNvSpPr/>
          <p:nvPr/>
        </p:nvSpPr>
        <p:spPr>
          <a:xfrm>
            <a:off x="585527" y="1737360"/>
            <a:ext cx="4658826" cy="7086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Code">
            <a:extLst>
              <a:ext uri="{FF2B5EF4-FFF2-40B4-BE49-F238E27FC236}">
                <a16:creationId xmlns:a16="http://schemas.microsoft.com/office/drawing/2014/main" id="{55528F7C-10BE-4873-6341-9DF2E428C24B}"/>
              </a:ext>
            </a:extLst>
          </p:cNvPr>
          <p:cNvSpPr txBox="1"/>
          <p:nvPr/>
        </p:nvSpPr>
        <p:spPr>
          <a:xfrm>
            <a:off x="1139127" y="1737360"/>
            <a:ext cx="39169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https://</a:t>
            </a:r>
            <a:r>
              <a:rPr lang="en-US" sz="12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checkip.amazonaws.com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2 · RESTRICT ACCESS TO YOUR /24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B: convert it to a /24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Keep the first three octets, set the last to 0, add /24.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1234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Public IP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CIDR to use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Addresses covered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203.0.113.57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203.0.113.0/24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203.0.113.0 – 203.0.113.255 (256)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198.51.100.214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198.51.100.0/24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198.51.100.0 – 198.51.100.255 (256)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457200" y="329184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Callout text"/>
          <p:cNvSpPr txBox="1"/>
          <p:nvPr/>
        </p:nvSpPr>
        <p:spPr>
          <a:xfrm>
            <a:off x="640080" y="3291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Why 256?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/24 fixes the first 24 bits (3 octets). The last 8 bits are free: 2⁸ = 256 addresses.</a:t>
            </a:r>
            <a:endParaRPr lang="en-US" sz="1300" dirty="0"/>
          </a:p>
        </p:txBody>
      </p:sp>
      <p:sp>
        <p:nvSpPr>
          <p:cNvPr id="8" name="Code box"/>
          <p:cNvSpPr/>
          <p:nvPr/>
        </p:nvSpPr>
        <p:spPr>
          <a:xfrm>
            <a:off x="4663440" y="3291840"/>
            <a:ext cx="4023360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Code"/>
          <p:cNvSpPr txBox="1"/>
          <p:nvPr/>
        </p:nvSpPr>
        <p:spPr>
          <a:xfrm>
            <a:off x="4846320" y="3291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https://checkip.amazonaws.com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awk -F. '{print $1"."$2"."$3".0/24"}'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2 · RESTRICT ACCESS TO YOUR /24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C: add the inbound rule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Navigate to the </a:t>
            </a:r>
            <a:r>
              <a:rPr lang="en-US" sz="1300" b="1" dirty="0">
                <a:solidFill>
                  <a:schemeClr val="tx1"/>
                </a:solidFill>
              </a:rPr>
              <a:t>Security group rules</a:t>
            </a:r>
            <a:r>
              <a:rPr lang="en-US" sz="1300" dirty="0">
                <a:solidFill>
                  <a:schemeClr val="tx1"/>
                </a:solidFill>
              </a:rPr>
              <a:t> under the instance’s </a:t>
            </a:r>
            <a:r>
              <a:rPr lang="en-US" sz="1300" b="1" dirty="0">
                <a:solidFill>
                  <a:schemeClr val="tx2"/>
                </a:solidFill>
              </a:rPr>
              <a:t>Connectivity &amp; security</a:t>
            </a:r>
            <a:r>
              <a:rPr lang="en-US" sz="1300" dirty="0">
                <a:solidFill>
                  <a:schemeClr val="tx1"/>
                </a:solidFill>
              </a:rPr>
              <a:t> tab.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2"/>
                </a:solidFill>
              </a:rPr>
              <a:t>Select</a:t>
            </a:r>
            <a:r>
              <a:rPr lang="en-US" sz="1300" b="1" dirty="0">
                <a:solidFill>
                  <a:schemeClr val="tx2"/>
                </a:solidFill>
              </a:rPr>
              <a:t> </a:t>
            </a:r>
            <a:r>
              <a:rPr lang="en-US" sz="1300" b="1" i="1" dirty="0">
                <a:solidFill>
                  <a:schemeClr val="tx2"/>
                </a:solidFill>
              </a:rPr>
              <a:t>&lt;</a:t>
            </a:r>
            <a:r>
              <a:rPr lang="en-US" sz="1300" b="1" i="1" dirty="0" err="1">
                <a:solidFill>
                  <a:schemeClr val="tx2"/>
                </a:solidFill>
              </a:rPr>
              <a:t>YourName</a:t>
            </a:r>
            <a:r>
              <a:rPr lang="en-US" sz="1300" b="1" i="1" dirty="0">
                <a:solidFill>
                  <a:schemeClr val="tx2"/>
                </a:solidFill>
              </a:rPr>
              <a:t>&gt;</a:t>
            </a:r>
            <a:r>
              <a:rPr lang="en-US" sz="1300" b="1" dirty="0">
                <a:solidFill>
                  <a:schemeClr val="tx2"/>
                </a:solidFill>
              </a:rPr>
              <a:t>-</a:t>
            </a:r>
            <a:r>
              <a:rPr lang="en-US" sz="1300" b="1" dirty="0" err="1">
                <a:solidFill>
                  <a:schemeClr val="tx2"/>
                </a:solidFill>
              </a:rPr>
              <a:t>db</a:t>
            </a:r>
            <a:r>
              <a:rPr lang="en-US" sz="1300" b="1" dirty="0">
                <a:solidFill>
                  <a:schemeClr val="tx2"/>
                </a:solidFill>
              </a:rPr>
              <a:t>-sg</a:t>
            </a:r>
            <a:r>
              <a:rPr lang="en-US" sz="1300" dirty="0">
                <a:solidFill>
                  <a:schemeClr val="tx2"/>
                </a:solidFill>
              </a:rPr>
              <a:t> inbound</a:t>
            </a:r>
            <a:r>
              <a:rPr lang="en-US" sz="1300" dirty="0">
                <a:solidFill>
                  <a:schemeClr val="tx1"/>
                </a:solidFill>
              </a:rPr>
              <a:t> link to edit inbound rules.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Delete</a:t>
            </a:r>
            <a:r>
              <a:rPr lang="en-US" sz="1300" dirty="0">
                <a:solidFill>
                  <a:schemeClr val="tx1"/>
                </a:solidFill>
              </a:rPr>
              <a:t> any wizard-created 5432 rule.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Add rule:</a:t>
            </a:r>
            <a:r>
              <a:rPr lang="en-US" sz="1300" dirty="0">
                <a:solidFill>
                  <a:schemeClr val="tx1"/>
                </a:solidFill>
              </a:rPr>
              <a:t> Type PostgreSQL (TCP 5432). Source Custom: your /24, e.g. 203.0.113.0/24.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Description:</a:t>
            </a:r>
            <a:r>
              <a:rPr lang="en-US" sz="1300" dirty="0">
                <a:solidFill>
                  <a:schemeClr val="tx1"/>
                </a:solidFill>
              </a:rPr>
              <a:t> Course demo, delete after class. Save rules.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DEA7A7-CB86-4856-98D5-EDFC7C57B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243" y="1371600"/>
            <a:ext cx="4270295" cy="28687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2 · RESTRICT ACCESS TO YOUR /24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D: verify and know the limits</a:t>
            </a:r>
            <a:endParaRPr lang="en-US" sz="32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3716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Negative test:</a:t>
            </a:r>
            <a:r>
              <a:rPr lang="en-US" sz="1400" dirty="0">
                <a:solidFill>
                  <a:schemeClr val="tx1"/>
                </a:solidFill>
              </a:rPr>
              <a:t> try from a phone hotspot. The connection should time out.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Your IP can change.</a:t>
            </a:r>
            <a:r>
              <a:rPr lang="en-US" sz="1400" dirty="0">
                <a:solidFill>
                  <a:schemeClr val="tx1"/>
                </a:solidFill>
              </a:rPr>
              <a:t> If connections suddenly time out, redo Step A and update the rule.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Shared networks:</a:t>
            </a:r>
            <a:r>
              <a:rPr lang="en-US" sz="1400" dirty="0">
                <a:solidFill>
                  <a:schemeClr val="tx1"/>
                </a:solidFill>
              </a:rPr>
              <a:t> campus, corporate, or VPN /24s include other people. Run Step A while on the VPN.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Not strong security:</a:t>
            </a:r>
            <a:r>
              <a:rPr lang="en-US" sz="1400" dirty="0">
                <a:solidFill>
                  <a:schemeClr val="tx1"/>
                </a:solidFill>
              </a:rPr>
              <a:t> the password is the real protection. Production uses private subnets.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IPv6:</a:t>
            </a:r>
            <a:r>
              <a:rPr lang="en-US" sz="1400" dirty="0">
                <a:solidFill>
                  <a:schemeClr val="tx1"/>
                </a:solidFill>
              </a:rPr>
              <a:t> needs its own rule. Use curl -4 to get an IPv4 address.</a:t>
            </a:r>
            <a:endParaRPr lang="en-US" sz="1400" dirty="0"/>
          </a:p>
        </p:txBody>
      </p:sp>
      <p:sp>
        <p:nvSpPr>
          <p:cNvPr id="5" name="Callout"/>
          <p:cNvSpPr/>
          <p:nvPr/>
        </p:nvSpPr>
        <p:spPr>
          <a:xfrm>
            <a:off x="5303520" y="1371600"/>
            <a:ext cx="33832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allout text"/>
          <p:cNvSpPr txBox="1"/>
          <p:nvPr/>
        </p:nvSpPr>
        <p:spPr>
          <a:xfrm>
            <a:off x="5486400" y="13716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Contrast exercise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Try My IP (/32) versus the /24. Discuss the tradeoff.</a:t>
            </a:r>
            <a:endParaRPr lang="en-US" sz="1300" dirty="0"/>
          </a:p>
        </p:txBody>
      </p:sp>
      <p:sp>
        <p:nvSpPr>
          <p:cNvPr id="7" name="Callout"/>
          <p:cNvSpPr/>
          <p:nvPr/>
        </p:nvSpPr>
        <p:spPr>
          <a:xfrm>
            <a:off x="5303520" y="2971800"/>
            <a:ext cx="33832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Callout text"/>
          <p:cNvSpPr txBox="1"/>
          <p:nvPr/>
        </p:nvSpPr>
        <p:spPr>
          <a:xfrm>
            <a:off x="5486400" y="29718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Bots are fast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Port 5432 open to 0.0.0.0/0 is probed within minutes.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3 · CONNECT WITH PGADMIN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A: open your existing pgAdmin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Launch </a:t>
            </a:r>
            <a:r>
              <a:rPr lang="en-US" sz="1300" b="1" dirty="0" err="1">
                <a:solidFill>
                  <a:schemeClr val="tx2"/>
                </a:solidFill>
              </a:rPr>
              <a:t>pgAdmin</a:t>
            </a:r>
            <a:r>
              <a:rPr lang="en-US" sz="1300" dirty="0">
                <a:solidFill>
                  <a:schemeClr val="tx1"/>
                </a:solidFill>
              </a:rPr>
              <a:t> from the Start menu, Applications folder, or app menu.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Enter the master password</a:t>
            </a:r>
            <a:r>
              <a:rPr lang="en-US" sz="1300" dirty="0">
                <a:solidFill>
                  <a:schemeClr val="tx1"/>
                </a:solidFill>
              </a:rPr>
              <a:t> if prompted. It protects saved credentials only.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Show the Object Explorer</a:t>
            </a:r>
            <a:r>
              <a:rPr lang="en-US" sz="1300" dirty="0">
                <a:solidFill>
                  <a:schemeClr val="tx1"/>
                </a:solidFill>
              </a:rPr>
              <a:t> (View, Show/Hide Browser Panel) if hidden.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Remove stale entries</a:t>
            </a:r>
            <a:r>
              <a:rPr lang="en-US" sz="1300" dirty="0">
                <a:solidFill>
                  <a:schemeClr val="tx1"/>
                </a:solidFill>
              </a:rPr>
              <a:t> from earlier classes under Servers.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Check your version</a:t>
            </a:r>
            <a:r>
              <a:rPr lang="en-US" sz="1300" dirty="0">
                <a:solidFill>
                  <a:schemeClr val="tx1"/>
                </a:solidFill>
              </a:rPr>
              <a:t> under Help, About pgAdmin 4. Steps match 8.x and 9.x.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A27B25-9F81-02D0-2E53-9D146683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946" y="1371600"/>
            <a:ext cx="4283640" cy="28776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3 · CONNECT WITH PGADMIN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B: register the RDS server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Right-click Servers,</a:t>
            </a:r>
            <a:r>
              <a:rPr lang="en-US" sz="1300" dirty="0">
                <a:solidFill>
                  <a:schemeClr val="tx1"/>
                </a:solidFill>
              </a:rPr>
              <a:t> then Register, Server.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General tab:</a:t>
            </a:r>
            <a:r>
              <a:rPr lang="en-US" sz="1300" dirty="0">
                <a:solidFill>
                  <a:schemeClr val="tx1"/>
                </a:solidFill>
              </a:rPr>
              <a:t> Name = course-postgres (local label only).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Connection tab:</a:t>
            </a:r>
            <a:r>
              <a:rPr lang="en-US" sz="1300" dirty="0">
                <a:solidFill>
                  <a:schemeClr val="tx1"/>
                </a:solidFill>
              </a:rPr>
              <a:t> Host = the RDS endpoint. Port = 5432.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Maintenance database: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en-US" sz="1300" dirty="0" err="1">
                <a:solidFill>
                  <a:schemeClr val="tx1"/>
                </a:solidFill>
              </a:rPr>
              <a:t>test_db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Username / password:</a:t>
            </a:r>
            <a:r>
              <a:rPr lang="en-US" sz="1300" dirty="0">
                <a:solidFill>
                  <a:schemeClr val="tx1"/>
                </a:solidFill>
              </a:rPr>
              <a:t> postgres and the master password.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ED97BD-6713-C5C9-F852-E61217DD1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296984" cy="28866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3 · CONNECT WITH PGADMIN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Save and confirm the connection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SSL tab (optional):</a:t>
            </a:r>
            <a:r>
              <a:rPr lang="en-US" sz="1400" dirty="0">
                <a:solidFill>
                  <a:schemeClr val="tx1"/>
                </a:solidFill>
              </a:rPr>
              <a:t> mode prefer works. Use require to force encryption.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Click Save.</a:t>
            </a:r>
            <a:r>
              <a:rPr lang="en-US" sz="1400" dirty="0">
                <a:solidFill>
                  <a:schemeClr val="tx1"/>
                </a:solidFill>
              </a:rPr>
              <a:t> pgAdmin connects immediately.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Expand the tree:</a:t>
            </a:r>
            <a:r>
              <a:rPr lang="en-US" sz="1400" dirty="0">
                <a:solidFill>
                  <a:schemeClr val="tx1"/>
                </a:solidFill>
              </a:rPr>
              <a:t> course-postgres, Databases, coursedb, Schemas, public, Tables.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chemeClr val="tx2"/>
                </a:solidFill>
              </a:rPr>
              <a:t>Error instead?</a:t>
            </a:r>
            <a:r>
              <a:rPr lang="en-US" sz="1400" dirty="0">
                <a:solidFill>
                  <a:schemeClr val="tx1"/>
                </a:solidFill>
              </a:rPr>
              <a:t> See the troubleshooting slide.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EA5236-06BB-4ED7-2525-277426646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150" y="1371601"/>
            <a:ext cx="4355699" cy="29260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3 · CONNECT WITH PGADMIN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Run your first queries</a:t>
            </a:r>
            <a:endParaRPr lang="en-US" sz="32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2"/>
                </a:solidFill>
              </a:rPr>
              <a:t>Right-click </a:t>
            </a:r>
            <a:r>
              <a:rPr lang="en-US" sz="1400" b="1" dirty="0" err="1">
                <a:solidFill>
                  <a:schemeClr val="tx2"/>
                </a:solidFill>
              </a:rPr>
              <a:t>test_db</a:t>
            </a:r>
            <a:r>
              <a:rPr lang="en-US" sz="1400" b="1" dirty="0">
                <a:solidFill>
                  <a:schemeClr val="tx2"/>
                </a:solidFill>
              </a:rPr>
              <a:t>,</a:t>
            </a:r>
            <a:r>
              <a:rPr lang="en-US" sz="1400" dirty="0">
                <a:solidFill>
                  <a:schemeClr val="tx1"/>
                </a:solidFill>
              </a:rPr>
              <a:t> choose Query Tool (Alt+Shift+Q).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</a:rPr>
              <a:t>Paste the script,</a:t>
            </a:r>
            <a:r>
              <a:rPr lang="en-US" sz="1400" dirty="0">
                <a:solidFill>
                  <a:schemeClr val="tx1"/>
                </a:solidFill>
              </a:rPr>
              <a:t> click Execute (F5).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</a:rPr>
              <a:t>Results</a:t>
            </a:r>
            <a:r>
              <a:rPr lang="en-US" sz="1400" dirty="0">
                <a:solidFill>
                  <a:schemeClr val="tx1"/>
                </a:solidFill>
              </a:rPr>
              <a:t> appear in Data Output; timing in Messages.</a:t>
            </a:r>
            <a:endParaRPr lang="en-US" sz="1400" dirty="0"/>
          </a:p>
        </p:txBody>
      </p:sp>
      <p:sp>
        <p:nvSpPr>
          <p:cNvPr id="5" name="Code box"/>
          <p:cNvSpPr/>
          <p:nvPr/>
        </p:nvSpPr>
        <p:spPr>
          <a:xfrm>
            <a:off x="457200" y="2834640"/>
            <a:ext cx="4023360" cy="173736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ode"/>
          <p:cNvSpPr txBox="1"/>
          <p:nvPr/>
        </p:nvSpPr>
        <p:spPr>
          <a:xfrm>
            <a:off x="64008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version();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hello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serial PRIMARY KEY, msg text);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hello (msg)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('Hello from RDS');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hello;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311282-2CCE-3ED5-399E-48CDAB492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20" y="1371600"/>
            <a:ext cx="4328160" cy="29075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3 · CONNECT WITH PGADMIN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Troubleshooting pgAdmin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Symptom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Likely cause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Connection timed out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Rule missing or your current IP is outside the /24; or Public access is No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Password authentication failed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Wrong password. Reset via RDS, Modify, New master password.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Database coursedb does not exist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Initial name left blank. Set Maintenance database to postgres.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SSL error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Set SSL mode to prefer or require, not disable.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Worked yesterday, fails today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Your public IP changed. Redo Part 2 Step A.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Times out on every rule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Campus or corporate firewall blocks outbound 5432. Try a hotspot.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4 · CLEANUP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Delete everything </a:t>
            </a:r>
            <a:r>
              <a:rPr lang="en-US" sz="3200" b="1" i="1" dirty="0">
                <a:solidFill>
                  <a:schemeClr val="tx2"/>
                </a:solidFill>
              </a:rPr>
              <a:t>OR at least STOP instance</a:t>
            </a:r>
            <a:endParaRPr lang="en-US" sz="3200" i="1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37160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pgAdmin:</a:t>
            </a:r>
            <a:r>
              <a:rPr lang="en-US" sz="1300" dirty="0">
                <a:solidFill>
                  <a:schemeClr val="tx1"/>
                </a:solidFill>
              </a:rPr>
              <a:t> right-click the server, Remove Server.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RDS:</a:t>
            </a:r>
            <a:r>
              <a:rPr lang="en-US" sz="1300" dirty="0">
                <a:solidFill>
                  <a:schemeClr val="tx1"/>
                </a:solidFill>
              </a:rPr>
              <a:t> select the instance, Actions, Delete.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Uncheck</a:t>
            </a:r>
            <a:r>
              <a:rPr lang="en-US" sz="1300" dirty="0">
                <a:solidFill>
                  <a:schemeClr val="tx1"/>
                </a:solidFill>
              </a:rPr>
              <a:t> Create final snapshot and Retain automated backups.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Confirm:</a:t>
            </a:r>
            <a:r>
              <a:rPr lang="en-US" sz="1300" dirty="0">
                <a:solidFill>
                  <a:schemeClr val="tx1"/>
                </a:solidFill>
              </a:rPr>
              <a:t> tick the acknowledgment, type delete me.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EC2, Security Groups:</a:t>
            </a:r>
            <a:r>
              <a:rPr lang="en-US" sz="1300" dirty="0">
                <a:solidFill>
                  <a:schemeClr val="tx1"/>
                </a:solidFill>
              </a:rPr>
              <a:t> delete course-postgres-sg.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chemeClr val="tx2"/>
                </a:solidFill>
              </a:rPr>
              <a:t>Billing, Free Tier:</a:t>
            </a:r>
            <a:r>
              <a:rPr lang="en-US" sz="1300" dirty="0">
                <a:solidFill>
                  <a:schemeClr val="tx1"/>
                </a:solidFill>
              </a:rPr>
              <a:t> confirm no remaining usage.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1CA242-0087-7292-1F7A-F322E0F81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614" y="1371600"/>
            <a:ext cx="4443774" cy="29852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Takeaway card"/>
          <p:cNvSpPr/>
          <p:nvPr/>
        </p:nvSpPr>
        <p:spPr>
          <a:xfrm>
            <a:off x="640080" y="22860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2E3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Icon circle"/>
          <p:cNvSpPr/>
          <p:nvPr/>
        </p:nvSpPr>
        <p:spPr>
          <a:xfrm>
            <a:off x="822960" y="2468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6234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Free tier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750 hours a month, 20 GB storage, 20 GB backups. Verify current terms.</a:t>
            </a:r>
            <a:endParaRPr lang="en-US" sz="1600" dirty="0"/>
          </a:p>
        </p:txBody>
      </p:sp>
      <p:sp>
        <p:nvSpPr>
          <p:cNvPr id="7" name="Takeaway card"/>
          <p:cNvSpPr/>
          <p:nvPr/>
        </p:nvSpPr>
        <p:spPr>
          <a:xfrm>
            <a:off x="3337560" y="22860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2E3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Icon circle"/>
          <p:cNvSpPr/>
          <p:nvPr/>
        </p:nvSpPr>
        <p:spPr>
          <a:xfrm>
            <a:off x="3520440" y="24688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974" y="262341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0440" y="315468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Security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 /24 beats 0.0.0.0/0, but the password and private subnets are what protect production.</a:t>
            </a:r>
            <a:endParaRPr lang="en-US" sz="1600" dirty="0"/>
          </a:p>
        </p:txBody>
      </p:sp>
      <p:sp>
        <p:nvSpPr>
          <p:cNvPr id="11" name="Takeaway card"/>
          <p:cNvSpPr/>
          <p:nvPr/>
        </p:nvSpPr>
        <p:spPr>
          <a:xfrm>
            <a:off x="6035040" y="22860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2E3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Icon circle"/>
          <p:cNvSpPr/>
          <p:nvPr/>
        </p:nvSpPr>
        <p:spPr>
          <a:xfrm>
            <a:off x="6217920" y="246888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454" y="262341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17920" y="315468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Cost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Delete the instance. Set a billing alarm or Budget first.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DS Course">
  <a:themeElements>
    <a:clrScheme name="RDS Course">
      <a:dk1>
        <a:srgbClr val="1B2433"/>
      </a:dk1>
      <a:lt1>
        <a:srgbClr val="FFFFFF"/>
      </a:lt1>
      <a:dk2>
        <a:srgbClr val="232F3E"/>
      </a:dk2>
      <a:lt2>
        <a:srgbClr val="F1F4F8"/>
      </a:lt2>
      <a:accent1>
        <a:srgbClr val="E8890C"/>
      </a:accent1>
      <a:accent2>
        <a:srgbClr val="1F7A8C"/>
      </a:accent2>
      <a:accent3>
        <a:srgbClr val="3B5BA9"/>
      </a:accent3>
      <a:accent4>
        <a:srgbClr val="2E8B57"/>
      </a:accent4>
      <a:accent5>
        <a:srgbClr val="C0392B"/>
      </a:accent5>
      <a:accent6>
        <a:srgbClr val="6B7788"/>
      </a:accent6>
      <a:hlink>
        <a:srgbClr val="1F7A8C"/>
      </a:hlink>
      <a:folHlink>
        <a:srgbClr val="6B7788"/>
      </a:folHlink>
    </a:clrScheme>
    <a:fontScheme name="RDS Cour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1848</Words>
  <Application>Microsoft Macintosh PowerPoint</Application>
  <PresentationFormat>On-screen Show (16:9)</PresentationFormat>
  <Paragraphs>222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RDS Course</vt:lpstr>
      <vt:lpstr>Create a Free-Tier PostgreSQL Instance on Amazon RDS</vt:lpstr>
      <vt:lpstr>What we are building</vt:lpstr>
      <vt:lpstr>Prerequisites</vt:lpstr>
      <vt:lpstr>Start the wizard</vt:lpstr>
      <vt:lpstr>Settings and instance size</vt:lpstr>
      <vt:lpstr>Storage and connectivity</vt:lpstr>
      <vt:lpstr>Finish and create</vt:lpstr>
      <vt:lpstr>Wait, then copy the endpoint</vt:lpstr>
      <vt:lpstr>Step A: find your public IP</vt:lpstr>
      <vt:lpstr>Step B: convert it to a /24</vt:lpstr>
      <vt:lpstr>Step C: add the inbound rule</vt:lpstr>
      <vt:lpstr>Step D: verify and know the limits</vt:lpstr>
      <vt:lpstr>Step A: open your existing pgAdmin</vt:lpstr>
      <vt:lpstr>Step B: register the RDS server</vt:lpstr>
      <vt:lpstr>Save and confirm the connection</vt:lpstr>
      <vt:lpstr>Run your first queries</vt:lpstr>
      <vt:lpstr>Troubleshooting pgAdmin</vt:lpstr>
      <vt:lpstr>Delete everything OR at least STOP instance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Free-Tier PostgreSQL Instance on Amazon RDS</dc:title>
  <dc:subject>PptxGenJS Presentation</dc:subject>
  <dc:creator>PptxGenJS</dc:creator>
  <cp:lastModifiedBy>Lester Martin</cp:lastModifiedBy>
  <cp:revision>12</cp:revision>
  <dcterms:created xsi:type="dcterms:W3CDTF">2026-10-26T22:49:51Z</dcterms:created>
  <dcterms:modified xsi:type="dcterms:W3CDTF">2026-10-27T03:38:36Z</dcterms:modified>
</cp:coreProperties>
</file>