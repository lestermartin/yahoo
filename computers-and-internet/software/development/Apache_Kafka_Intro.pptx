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047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Set expectations: this is a conceptual intro, not a hands-on lab. By the end, students should understand what Kafka is, why it exists, and its core vocabulary (topics, partitions, producers, consumers, brokers).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Kafka simply before diving into mechanics. Emphasize three words: distributed, durable, real-time. Mention the LinkedIn origin (2011, later open-sourced as an Apache project) for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N-squared integration problem. Before Kafka, every system that needs data from every other system requires a custom point-to-point connection. Kafka acts as a central nervous system: producers write once, any number of consumers read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decoupling: the producer doesn't know who or how many consumers exist. Consumers can be added later without changing the producer. This is the core pub/sub value proposition versus point-to-point messaging or direct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concept: partitions are the unit of parallelism and ordering. Each partition is an immutable, append-only log; new records get the next offset. Emphasize that ordering is per-partition only, which surprises many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Producers and consumers are decoupled in time and space. Consumers control their own offset, which is what makes replay possible — a big difference from traditional message queues where messages disappear once consumed.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broker is a single Kafka server; a cluster is a group of brokers. Explain leader/follower replication briefly — replication factor is typically 3 in production. Mention that modern Kafka uses its own KRaft consensus for cluster coordination, replacing ZooKeeper,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 groups are how Kafka achieves scalable, parallel consumption while preserving per-partition order. Rule: within a group, each partition is assigned to exactly one consumer. Add a consumer, and Kafka rebalances partitions across the group — up to one consumer per partition (more consumers than partitions sit idle).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message lifecycle and consumption model. A traditional queue broker has to track, per message, which of its subscribers have acknowledged it, and only deletes the message once everyone has -- that per-subscriber bookkeeping is real operational overhead that grows as you add consumers. Kafka sidesteps this entirely: it never tracks per-consumer acknowledgment at the broker level. It just keeps every message until the topic's retention period (time- or size-based) expires, and each consumer independently tracks its own offset. This is why adding a new consumer group to Kafka is "free" for the broker, while adding a subscriber to a traditional queue adds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properties worth memorizing. Durability and fault tolerance come from replication; scalability comes from partitioning; ordering is scoped to a partition, not a topic. These properties distinguish Kafka from a simple message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abstract concepts in familiar examples. LinkedIn originally built Kafka for activity tracking and metrics. Today, companies like Netflix, Uber, and Airbnb use it for exactly these six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Kafka itself is just the log. The ecosystem is what makes it practical: Connect for integration without custom code, Streams/ksqlDB for processing, Schema Registry for data contracts between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every concept together: producers write to topics spread across partitions on brokers in a cluster; consumer groups read from those partitions in parallel. This is the mental model students should leave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five core ideas before moving to a hands-on lab or demo. These five points are the minimum a student needs to make sense of any Kafka documentation or tutorial they read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Suggest a hands-on follow-up: installing Kafka locally (or via Docker) and running the quickstart producer/consumer console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171C"/>
              </a:gs>
              <a:gs pos="100000">
                <a:srgbClr val="1B2027"/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0" y="0"/>
            <a:ext cx="4064000" cy="4064000"/>
          </a:xfrm>
          <a:prstGeom prst="rect">
            <a:avLst/>
          </a:prstGeom>
        </p:spPr>
      </p:pic>
      <p:pic>
        <p:nvPicPr>
          <p:cNvPr id="4" name="Image 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0" y="3810000"/>
            <a:ext cx="3048000" cy="304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234573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F6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 STREAMING PLATFORM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12800" y="2762250"/>
            <a:ext cx="10883392" cy="93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140"/>
              </a:lnSpc>
              <a:buNone/>
            </a:pPr>
            <a:r>
              <a:rPr lang="en-US" sz="70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Apache Kafka</a:t>
            </a:r>
            <a:endParaRPr lang="en-US" sz="7000" dirty="0"/>
          </a:p>
        </p:txBody>
      </p:sp>
      <p:sp>
        <p:nvSpPr>
          <p:cNvPr id="7" name="Text 3"/>
          <p:cNvSpPr/>
          <p:nvPr/>
        </p:nvSpPr>
        <p:spPr>
          <a:xfrm>
            <a:off x="812800" y="3872210"/>
            <a:ext cx="719455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introduction to distributed event streaming, for engineers who haven't met it yet.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19778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Kafka?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290"/>
            <a:ext cx="8829675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Apache Kafka is a distributed platform for publishing, storing, and processing </a:t>
            </a:r>
            <a:r>
              <a:rPr lang="en-US" sz="2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streams of events</a:t>
            </a:r>
            <a:r>
              <a:rPr lang="en-US" sz="22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real time.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2812306"/>
            <a:ext cx="1339652" cy="458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2350" y="2917081"/>
            <a:ext cx="9777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14377" y="2812306"/>
            <a:ext cx="1065213" cy="458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20752" y="2917081"/>
            <a:ext cx="7032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38339" y="2812306"/>
            <a:ext cx="1249660" cy="458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4714" y="2917081"/>
            <a:ext cx="8877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46749" y="2812306"/>
            <a:ext cx="1121668" cy="458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53124" y="2917081"/>
            <a:ext cx="759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629521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Originally built at LinkedIn in 2011, Kafka is now the de facto standard for moving data between systems at high volume and low latency.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Problem: Everyone Talks to Everyone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4120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6A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Kafka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5073650" cy="3641179"/>
          </a:xfrm>
          <a:prstGeom prst="roundRect">
            <a:avLst>
              <a:gd name="adj" fmla="val 4098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6800" y="2133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93329" y="2289770"/>
            <a:ext cx="47719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6800" y="3149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5549" y="3305770"/>
            <a:ext cx="67275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66800" y="4165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03089" y="4321770"/>
            <a:ext cx="6576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59300" y="2133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3002" y="2289770"/>
            <a:ext cx="62289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9300" y="3149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23582" y="3305770"/>
            <a:ext cx="40173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59300" y="4165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704" y="4321770"/>
            <a:ext cx="48349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</a:t>
            </a:r>
            <a:endParaRPr lang="en-US" sz="1100" dirty="0"/>
          </a:p>
        </p:txBody>
      </p:sp>
      <p:pic>
        <p:nvPicPr>
          <p:cNvPr id="17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8200" y="2349450"/>
            <a:ext cx="2552700" cy="76200"/>
          </a:xfrm>
          <a:prstGeom prst="rect">
            <a:avLst/>
          </a:prstGeom>
        </p:spPr>
      </p:pic>
      <p:pic>
        <p:nvPicPr>
          <p:cNvPr id="18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08200" y="2349450"/>
            <a:ext cx="2552700" cy="1092200"/>
          </a:xfrm>
          <a:prstGeom prst="rect">
            <a:avLst/>
          </a:prstGeom>
        </p:spPr>
      </p:pic>
      <p:pic>
        <p:nvPicPr>
          <p:cNvPr id="19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08200" y="2349450"/>
            <a:ext cx="2552700" cy="2108200"/>
          </a:xfrm>
          <a:prstGeom prst="rect">
            <a:avLst/>
          </a:prstGeom>
        </p:spPr>
      </p:pic>
      <p:pic>
        <p:nvPicPr>
          <p:cNvPr id="20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08200" y="2349450"/>
            <a:ext cx="2552700" cy="1092200"/>
          </a:xfrm>
          <a:prstGeom prst="rect">
            <a:avLst/>
          </a:prstGeom>
        </p:spPr>
      </p:pic>
      <p:pic>
        <p:nvPicPr>
          <p:cNvPr id="21" name="Image 4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8200" y="3365450"/>
            <a:ext cx="2552700" cy="76200"/>
          </a:xfrm>
          <a:prstGeom prst="rect">
            <a:avLst/>
          </a:prstGeom>
        </p:spPr>
      </p:pic>
      <p:pic>
        <p:nvPicPr>
          <p:cNvPr id="22" name="Image 5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08200" y="3365450"/>
            <a:ext cx="2552700" cy="1092200"/>
          </a:xfrm>
          <a:prstGeom prst="rect">
            <a:avLst/>
          </a:prstGeom>
        </p:spPr>
      </p:pic>
      <p:pic>
        <p:nvPicPr>
          <p:cNvPr id="23" name="Image 6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08200" y="2349450"/>
            <a:ext cx="2552700" cy="2108200"/>
          </a:xfrm>
          <a:prstGeom prst="rect">
            <a:avLst/>
          </a:prstGeom>
        </p:spPr>
      </p:pic>
      <p:pic>
        <p:nvPicPr>
          <p:cNvPr id="24" name="Image 7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08200" y="3365450"/>
            <a:ext cx="2552700" cy="1092200"/>
          </a:xfrm>
          <a:prstGeom prst="rect">
            <a:avLst/>
          </a:prstGeom>
        </p:spPr>
      </p:pic>
      <p:pic>
        <p:nvPicPr>
          <p:cNvPr id="25" name="Image 8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8200" y="4381450"/>
            <a:ext cx="2552700" cy="762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12800" y="56286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systems need up to N² point-to-point connections.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6299200" y="1534120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Kafka</a:t>
            </a:r>
            <a:endParaRPr lang="en-US" sz="1600" dirty="0"/>
          </a:p>
        </p:txBody>
      </p:sp>
      <p:sp>
        <p:nvSpPr>
          <p:cNvPr id="28" name="Shape 17"/>
          <p:cNvSpPr/>
          <p:nvPr/>
        </p:nvSpPr>
        <p:spPr>
          <a:xfrm>
            <a:off x="6302375" y="1882725"/>
            <a:ext cx="5073650" cy="3641179"/>
          </a:xfrm>
          <a:prstGeom prst="roundRect">
            <a:avLst>
              <a:gd name="adj" fmla="val 4098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8"/>
          <p:cNvSpPr/>
          <p:nvPr/>
        </p:nvSpPr>
        <p:spPr>
          <a:xfrm>
            <a:off x="6553200" y="2133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9"/>
          <p:cNvSpPr/>
          <p:nvPr/>
        </p:nvSpPr>
        <p:spPr>
          <a:xfrm>
            <a:off x="6879729" y="2289770"/>
            <a:ext cx="47719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6553200" y="3149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1"/>
          <p:cNvSpPr/>
          <p:nvPr/>
        </p:nvSpPr>
        <p:spPr>
          <a:xfrm>
            <a:off x="6781949" y="3305770"/>
            <a:ext cx="67275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6553200" y="4165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3"/>
          <p:cNvSpPr/>
          <p:nvPr/>
        </p:nvSpPr>
        <p:spPr>
          <a:xfrm>
            <a:off x="6789489" y="4321770"/>
            <a:ext cx="6576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8357102" y="3149550"/>
            <a:ext cx="1143000" cy="635000"/>
          </a:xfrm>
          <a:prstGeom prst="roundRect">
            <a:avLst>
              <a:gd name="adj" fmla="val 16000"/>
            </a:avLst>
          </a:prstGeom>
          <a:solidFill>
            <a:srgbClr val="2DD4BF"/>
          </a:solidFill>
          <a:ln>
            <a:solidFill>
              <a:srgbClr val="92D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5"/>
          <p:cNvSpPr/>
          <p:nvPr/>
        </p:nvSpPr>
        <p:spPr>
          <a:xfrm>
            <a:off x="8700597" y="3351461"/>
            <a:ext cx="50680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1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10045700" y="2133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7"/>
          <p:cNvSpPr/>
          <p:nvPr/>
        </p:nvSpPr>
        <p:spPr>
          <a:xfrm>
            <a:off x="10299402" y="2289770"/>
            <a:ext cx="62289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10045700" y="3149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9"/>
          <p:cNvSpPr/>
          <p:nvPr/>
        </p:nvSpPr>
        <p:spPr>
          <a:xfrm>
            <a:off x="10409982" y="3305770"/>
            <a:ext cx="40173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10045700" y="4165550"/>
            <a:ext cx="1079500" cy="508000"/>
          </a:xfrm>
          <a:prstGeom prst="roundRect">
            <a:avLst>
              <a:gd name="adj" fmla="val 15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1"/>
          <p:cNvSpPr/>
          <p:nvPr/>
        </p:nvSpPr>
        <p:spPr>
          <a:xfrm>
            <a:off x="10369104" y="4321770"/>
            <a:ext cx="48349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</a:t>
            </a:r>
            <a:endParaRPr lang="en-US" sz="1100" dirty="0"/>
          </a:p>
        </p:txBody>
      </p:sp>
      <p:sp>
        <p:nvSpPr>
          <p:cNvPr id="49" name="Text 32"/>
          <p:cNvSpPr/>
          <p:nvPr/>
        </p:nvSpPr>
        <p:spPr>
          <a:xfrm>
            <a:off x="6299200" y="56286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system just talks to Kafka.</a:t>
            </a:r>
            <a:endParaRPr lang="en-US" sz="1200" dirty="0"/>
          </a:p>
        </p:txBody>
      </p:sp>
      <p:sp>
        <p:nvSpPr>
          <p:cNvPr id="50" name="Text 33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51" name="Text 34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CD3B525-EDC7-0C32-BBD2-7C72654C21B9}"/>
              </a:ext>
            </a:extLst>
          </p:cNvPr>
          <p:cNvCxnSpPr>
            <a:cxnSpLocks/>
          </p:cNvCxnSpPr>
          <p:nvPr/>
        </p:nvCxnSpPr>
        <p:spPr>
          <a:xfrm>
            <a:off x="9500102" y="3736925"/>
            <a:ext cx="545598" cy="428625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05C9D58-D610-E9EC-D72E-F8518D0F346C}"/>
              </a:ext>
            </a:extLst>
          </p:cNvPr>
          <p:cNvCxnSpPr>
            <a:cxnSpLocks/>
          </p:cNvCxnSpPr>
          <p:nvPr/>
        </p:nvCxnSpPr>
        <p:spPr>
          <a:xfrm>
            <a:off x="7610726" y="2621558"/>
            <a:ext cx="746376" cy="562967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169D377-C029-D55D-F266-81489BB8A2B7}"/>
              </a:ext>
            </a:extLst>
          </p:cNvPr>
          <p:cNvCxnSpPr>
            <a:cxnSpLocks/>
          </p:cNvCxnSpPr>
          <p:nvPr/>
        </p:nvCxnSpPr>
        <p:spPr>
          <a:xfrm>
            <a:off x="7628440" y="3403550"/>
            <a:ext cx="702760" cy="3810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E98D092-3B56-3462-D779-DDED5525DF3D}"/>
              </a:ext>
            </a:extLst>
          </p:cNvPr>
          <p:cNvCxnSpPr>
            <a:cxnSpLocks/>
          </p:cNvCxnSpPr>
          <p:nvPr/>
        </p:nvCxnSpPr>
        <p:spPr>
          <a:xfrm flipV="1">
            <a:off x="7610726" y="3771900"/>
            <a:ext cx="746376" cy="433337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302571C-EFB7-B498-16A6-F0472543EDCE}"/>
              </a:ext>
            </a:extLst>
          </p:cNvPr>
          <p:cNvCxnSpPr>
            <a:cxnSpLocks/>
          </p:cNvCxnSpPr>
          <p:nvPr/>
        </p:nvCxnSpPr>
        <p:spPr>
          <a:xfrm flipH="1">
            <a:off x="9474200" y="2641550"/>
            <a:ext cx="590550" cy="542975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2D1849F-27C7-1E70-A1A5-92D6F06B243F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9500102" y="3429000"/>
            <a:ext cx="545598" cy="3805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 / Subscribe, Not Point-to-Point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38895"/>
            <a:ext cx="10560050" cy="3346549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9200" y="3807420"/>
            <a:ext cx="1397000" cy="889000"/>
          </a:xfrm>
          <a:prstGeom prst="roundRect">
            <a:avLst>
              <a:gd name="adj" fmla="val 11429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41760" y="4127450"/>
            <a:ext cx="8026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86350" y="3483570"/>
            <a:ext cx="3644900" cy="1536700"/>
          </a:xfrm>
          <a:prstGeom prst="roundRect">
            <a:avLst>
              <a:gd name="adj" fmla="val 6198"/>
            </a:avLst>
          </a:prstGeom>
          <a:solidFill>
            <a:srgbClr val="FFF3E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66321" y="4004270"/>
            <a:ext cx="11357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Topic: orders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5860" y="4303961"/>
            <a:ext cx="10566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4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partitions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956800" y="2397720"/>
            <a:ext cx="1397000" cy="698500"/>
          </a:xfrm>
          <a:prstGeom prst="roundRect">
            <a:avLst>
              <a:gd name="adj" fmla="val 14545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26526" y="2640310"/>
            <a:ext cx="9082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956800" y="3889970"/>
            <a:ext cx="1397000" cy="698500"/>
          </a:xfrm>
          <a:prstGeom prst="roundRect">
            <a:avLst>
              <a:gd name="adj" fmla="val 14545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27221" y="4132560"/>
            <a:ext cx="9069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56800" y="5382220"/>
            <a:ext cx="1397000" cy="698500"/>
          </a:xfrm>
          <a:prstGeom prst="roundRect">
            <a:avLst>
              <a:gd name="adj" fmla="val 14545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28808" y="5624810"/>
            <a:ext cx="903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C</a:t>
            </a:r>
            <a:endParaRPr lang="en-US" sz="1200" dirty="0"/>
          </a:p>
        </p:txBody>
      </p:sp>
      <p:pic>
        <p:nvPicPr>
          <p:cNvPr id="15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5400" y="4201120"/>
            <a:ext cx="2565400" cy="101600"/>
          </a:xfrm>
          <a:prstGeom prst="rect">
            <a:avLst/>
          </a:prstGeom>
        </p:spPr>
      </p:pic>
      <p:pic>
        <p:nvPicPr>
          <p:cNvPr id="16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0" y="2696170"/>
            <a:ext cx="1320800" cy="1403350"/>
          </a:xfrm>
          <a:prstGeom prst="rect">
            <a:avLst/>
          </a:prstGeom>
        </p:spPr>
      </p:pic>
      <p:pic>
        <p:nvPicPr>
          <p:cNvPr id="17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86800" y="4188420"/>
            <a:ext cx="1320800" cy="114300"/>
          </a:xfrm>
          <a:prstGeom prst="rect">
            <a:avLst/>
          </a:prstGeom>
        </p:spPr>
      </p:pic>
      <p:pic>
        <p:nvPicPr>
          <p:cNvPr id="18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86800" y="4404320"/>
            <a:ext cx="1320800" cy="13779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2800" y="5344220"/>
            <a:ext cx="91567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producer writes to a topic once. Any number of consumers can read it independently — at their own pace, without the producer knowing they exist.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Topics Are Split Into Partitions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20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1600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topic</a:t>
            </a:r>
            <a:r>
              <a:rPr lang="en-US" sz="16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a named stream of events, e.g. </a:t>
            </a:r>
            <a:r>
              <a:rPr lang="en-US" sz="160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orders</a:t>
            </a:r>
            <a:r>
              <a:rPr lang="en-US" sz="16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Kafka splits it into </a:t>
            </a:r>
            <a:r>
              <a:rPr lang="en-US" sz="1600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partitions</a:t>
            </a:r>
            <a:r>
              <a:rPr lang="en-US" sz="16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ordered, append-only logs identified by an offset.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605980"/>
            <a:ext cx="1831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 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92400" y="24586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00660" y="26059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25800" y="24586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34060" y="26059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59200" y="24586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67460" y="26059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2600" y="24586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00860" y="26059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6000" y="24586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E3E1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6620" y="2588171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266380"/>
            <a:ext cx="1831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2400" y="31190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00660" y="32663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25800" y="31190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34060" y="32663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59200" y="31190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E3E1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59820" y="3248571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3926780"/>
            <a:ext cx="1831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92400" y="37794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00660" y="39267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25800" y="37794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34060" y="39267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59200" y="37794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67460" y="39267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2600" y="3779441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E3E1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93220" y="3908971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2800" y="459224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is only guaranteed </a:t>
            </a:r>
            <a:r>
              <a:rPr lang="en-US" sz="1200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within</a:t>
            </a: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partition — never across the whole topic.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Producers Write. Consumers Read.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095"/>
            <a:ext cx="5124450" cy="4250730"/>
          </a:xfrm>
          <a:prstGeom prst="roundRect">
            <a:avLst>
              <a:gd name="adj" fmla="val 3511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aperPla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950" y="189607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950" y="2378670"/>
            <a:ext cx="46437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23950" y="2779961"/>
            <a:ext cx="4643755" cy="1399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C3C9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that publish events to a topic</a:t>
            </a:r>
            <a:endParaRPr lang="en-US" sz="1300" dirty="0"/>
          </a:p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C3C9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choose (or hash) a key to pick a partition; defaults to round-robin delivery </a:t>
            </a:r>
            <a:endParaRPr lang="en-US" sz="1300" dirty="0"/>
          </a:p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C3C9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know or care who reads the data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51575" y="1588095"/>
            <a:ext cx="5124450" cy="4250730"/>
          </a:xfrm>
          <a:prstGeom prst="roundRect">
            <a:avLst>
              <a:gd name="adj" fmla="val 3511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9550" y="1896070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9550" y="2378670"/>
            <a:ext cx="46437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59550" y="2779961"/>
            <a:ext cx="4643755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C3C9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that subscribe and read events</a:t>
            </a:r>
            <a:endParaRPr lang="en-US" sz="1300" dirty="0"/>
          </a:p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C3C9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their own position with an </a:t>
            </a:r>
            <a:r>
              <a:rPr lang="en-US" sz="1300" b="1" dirty="0">
                <a:solidFill>
                  <a:srgbClr val="C3C9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offset</a:t>
            </a:r>
            <a:endParaRPr lang="en-US" sz="1300" dirty="0"/>
          </a:p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C3C9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replay history by resetting that offset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Brokers Form the Cluster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91270"/>
            <a:ext cx="3348534" cy="3441799"/>
          </a:xfrm>
          <a:prstGeom prst="roundRect">
            <a:avLst>
              <a:gd name="adj" fmla="val 3603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158107" y="1851620"/>
            <a:ext cx="7213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Broker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2672" y="2148780"/>
            <a:ext cx="16522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0 · Leader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82316" y="2783947"/>
            <a:ext cx="1473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1 · Follower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1209" y="1588095"/>
            <a:ext cx="3342233" cy="3448149"/>
          </a:xfrm>
          <a:prstGeom prst="roundRect">
            <a:avLst>
              <a:gd name="adj" fmla="val 3705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7040" y="1845270"/>
            <a:ext cx="7213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Broker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1200" y="2142430"/>
            <a:ext cx="1473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0 · Follower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1555" y="2764780"/>
            <a:ext cx="16522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1 · Leader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33792" y="1588095"/>
            <a:ext cx="3342233" cy="3448149"/>
          </a:xfrm>
          <a:prstGeom prst="roundRect">
            <a:avLst>
              <a:gd name="adj" fmla="val 3705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69623" y="1845270"/>
            <a:ext cx="7213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Broker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93783" y="2142430"/>
            <a:ext cx="1473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0 · Follower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8407" y="2783947"/>
            <a:ext cx="1473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1 · Follower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5344220"/>
            <a:ext cx="98107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partition has one </a:t>
            </a:r>
            <a:r>
              <a:rPr lang="en-US" sz="1400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leader</a:t>
            </a:r>
            <a:r>
              <a:rPr lang="en-US" sz="14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broker that handles reads and writes, and replicas on other brokers for fault tolerance. If a broker fails, a follower takes over.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8ADB2571-5ECB-57EF-6F5E-F77F0CAF0A4C}"/>
              </a:ext>
            </a:extLst>
          </p:cNvPr>
          <p:cNvSpPr/>
          <p:nvPr/>
        </p:nvSpPr>
        <p:spPr>
          <a:xfrm>
            <a:off x="1782316" y="3422700"/>
            <a:ext cx="1473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2 · Follower</a:t>
            </a: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886D3BCD-5E4C-ED54-79A6-DBD33A537AE8}"/>
              </a:ext>
            </a:extLst>
          </p:cNvPr>
          <p:cNvSpPr/>
          <p:nvPr/>
        </p:nvSpPr>
        <p:spPr>
          <a:xfrm>
            <a:off x="5391199" y="3422700"/>
            <a:ext cx="1473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2 · Follower</a:t>
            </a:r>
            <a:endParaRPr 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B33C322D-AB8C-33CD-1742-6A024DB86B22}"/>
              </a:ext>
            </a:extLst>
          </p:cNvPr>
          <p:cNvSpPr/>
          <p:nvPr/>
        </p:nvSpPr>
        <p:spPr>
          <a:xfrm>
            <a:off x="8848317" y="3404915"/>
            <a:ext cx="16522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2 · Leader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Groups Scale Reads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095"/>
            <a:ext cx="10560050" cy="3929127"/>
          </a:xfrm>
          <a:prstGeom prst="roundRect">
            <a:avLst>
              <a:gd name="adj" fmla="val 4036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19200" y="1889720"/>
            <a:ext cx="11404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Topic: orders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19200" y="2219920"/>
            <a:ext cx="12065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6800" y="2430760"/>
            <a:ext cx="7620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19200" y="3045420"/>
            <a:ext cx="12065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6800" y="3256260"/>
            <a:ext cx="7620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19200" y="3870920"/>
            <a:ext cx="12065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6800" y="4081760"/>
            <a:ext cx="7620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19200" y="4696420"/>
            <a:ext cx="12065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66800" y="4907260"/>
            <a:ext cx="7620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6150" y="2226270"/>
            <a:ext cx="6337300" cy="2978200"/>
          </a:xfrm>
          <a:prstGeom prst="roundRect">
            <a:avLst>
              <a:gd name="adj" fmla="val 3506"/>
            </a:avLst>
          </a:prstGeom>
          <a:noFill/>
          <a:ln w="12700">
            <a:solidFill>
              <a:srgbClr val="FF6A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51240" y="2346920"/>
            <a:ext cx="23471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A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Group: billing-service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57800" y="285492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3988" y="3124150"/>
            <a:ext cx="10384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70600" y="3423841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reads P0, P1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51800" y="285492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27988" y="3124150"/>
            <a:ext cx="10384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4600" y="3423841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reads P2, P3</a:t>
            </a:r>
            <a:endParaRPr lang="en-US" sz="1000" dirty="0"/>
          </a:p>
        </p:txBody>
      </p:sp>
      <p:pic>
        <p:nvPicPr>
          <p:cNvPr id="21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7599" y="2499320"/>
            <a:ext cx="3638251" cy="355600"/>
          </a:xfrm>
          <a:prstGeom prst="rect">
            <a:avLst/>
          </a:prstGeom>
        </p:spPr>
      </p:pic>
      <p:pic>
        <p:nvPicPr>
          <p:cNvPr id="22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V="1">
            <a:off x="2389089" y="3285318"/>
            <a:ext cx="2884389" cy="45719"/>
          </a:xfrm>
          <a:prstGeom prst="rect">
            <a:avLst/>
          </a:prstGeom>
        </p:spPr>
      </p:pic>
      <p:pic>
        <p:nvPicPr>
          <p:cNvPr id="23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87600" y="3868340"/>
            <a:ext cx="6252966" cy="358180"/>
          </a:xfrm>
          <a:prstGeom prst="rect">
            <a:avLst/>
          </a:prstGeom>
        </p:spPr>
      </p:pic>
      <p:pic>
        <p:nvPicPr>
          <p:cNvPr id="24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87600" y="3853160"/>
            <a:ext cx="6870700" cy="11988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2800" y="55931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partition is read by exactly one consumer in a group — that's how client apps can scale beyond a single consumer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Deletes the Message, and When?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4120"/>
            <a:ext cx="104648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biggest difference between Kafka and a traditional queue (RabbitMQ, ActiveMQ, JMS) is how — and when — a message goes away.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2289076"/>
            <a:ext cx="5118100" cy="2869109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 t="-328" b="-328"/>
          <a:stretch/>
        </p:blipFill>
        <p:spPr>
          <a:xfrm>
            <a:off x="1123950" y="2597051"/>
            <a:ext cx="330200" cy="319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3950" y="3043634"/>
            <a:ext cx="4637215" cy="276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70"/>
              </a:lnSpc>
              <a:buNone/>
            </a:pPr>
            <a:r>
              <a:rPr lang="en-US" sz="1642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Queue</a:t>
            </a:r>
            <a:endParaRPr lang="en-US" sz="1642" dirty="0"/>
          </a:p>
        </p:txBody>
      </p:sp>
      <p:sp>
        <p:nvSpPr>
          <p:cNvPr id="7" name="Text 4"/>
          <p:cNvSpPr/>
          <p:nvPr/>
        </p:nvSpPr>
        <p:spPr>
          <a:xfrm>
            <a:off x="1123950" y="3421360"/>
            <a:ext cx="4637215" cy="1454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547" indent="-155277" algn="l">
              <a:lnSpc>
                <a:spcPts val="1877"/>
              </a:lnSpc>
              <a:buSzPct val="100000"/>
              <a:buChar char="•"/>
            </a:pPr>
            <a:r>
              <a:rPr lang="en-US" sz="121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broker must track </a:t>
            </a:r>
            <a:r>
              <a:rPr lang="en-US" sz="1211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subscriber</a:t>
            </a:r>
            <a:r>
              <a:rPr lang="en-US" sz="121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what each one has already acknowledged</a:t>
            </a:r>
            <a:endParaRPr lang="en-US" sz="1211" dirty="0"/>
          </a:p>
          <a:p>
            <a:pPr marL="184547" indent="-155277" algn="l">
              <a:lnSpc>
                <a:spcPts val="1877"/>
              </a:lnSpc>
              <a:buSzPct val="100000"/>
              <a:buChar char="•"/>
            </a:pPr>
            <a:r>
              <a:rPr lang="en-US" sz="121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message is deleted only once </a:t>
            </a:r>
            <a:r>
              <a:rPr lang="en-US" sz="1211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</a:t>
            </a:r>
            <a:r>
              <a:rPr lang="en-US" sz="121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subscribers have consumed it</a:t>
            </a:r>
            <a:endParaRPr lang="en-US" sz="1211" dirty="0"/>
          </a:p>
          <a:p>
            <a:pPr marL="184547" indent="-155277" algn="l">
              <a:lnSpc>
                <a:spcPts val="1877"/>
              </a:lnSpc>
              <a:buSzPct val="100000"/>
              <a:buChar char="•"/>
            </a:pPr>
            <a:r>
              <a:rPr lang="en-US" sz="121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subscriber, and the broker takes on more per-message bookkeeping</a:t>
            </a:r>
            <a:endParaRPr lang="en-US" sz="1211" dirty="0"/>
          </a:p>
        </p:txBody>
      </p:sp>
      <p:sp>
        <p:nvSpPr>
          <p:cNvPr id="8" name="Shape 5"/>
          <p:cNvSpPr/>
          <p:nvPr/>
        </p:nvSpPr>
        <p:spPr>
          <a:xfrm>
            <a:off x="6248400" y="2292251"/>
            <a:ext cx="5124450" cy="2862759"/>
          </a:xfrm>
          <a:prstGeom prst="roundRect">
            <a:avLst>
              <a:gd name="adj" fmla="val 5102"/>
            </a:avLst>
          </a:prstGeom>
          <a:solidFill>
            <a:srgbClr val="FFF3E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Clock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6559550" y="2603401"/>
            <a:ext cx="330200" cy="317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59550" y="3047950"/>
            <a:ext cx="4637215" cy="274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70"/>
              </a:lnSpc>
              <a:buNone/>
            </a:pPr>
            <a:r>
              <a:rPr lang="en-US" sz="1642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</a:t>
            </a:r>
            <a:endParaRPr lang="en-US" sz="1642" dirty="0"/>
          </a:p>
        </p:txBody>
      </p:sp>
      <p:sp>
        <p:nvSpPr>
          <p:cNvPr id="11" name="Text 7"/>
          <p:cNvSpPr/>
          <p:nvPr/>
        </p:nvSpPr>
        <p:spPr>
          <a:xfrm>
            <a:off x="6559550" y="3424089"/>
            <a:ext cx="4637215" cy="1445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952" indent="-155248" algn="l">
              <a:lnSpc>
                <a:spcPts val="1871"/>
              </a:lnSpc>
              <a:buSzPct val="100000"/>
              <a:buChar char="•"/>
            </a:pPr>
            <a:r>
              <a:rPr lang="en-US" sz="1207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broker does </a:t>
            </a:r>
            <a:r>
              <a:rPr lang="en-US" sz="1207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</a:t>
            </a:r>
            <a:r>
              <a:rPr lang="en-US" sz="1207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track which consumers have read a message</a:t>
            </a:r>
            <a:endParaRPr lang="en-US" sz="1207" dirty="0"/>
          </a:p>
          <a:p>
            <a:pPr marL="183952" indent="-155248" algn="l">
              <a:lnSpc>
                <a:spcPts val="1871"/>
              </a:lnSpc>
              <a:buSzPct val="100000"/>
              <a:buChar char="•"/>
            </a:pPr>
            <a:r>
              <a:rPr lang="en-US" sz="1207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message simply stays until its </a:t>
            </a:r>
            <a:r>
              <a:rPr lang="en-US" sz="1207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retention period</a:t>
            </a:r>
            <a:r>
              <a:rPr lang="en-US" sz="1207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expires (e.g. 7 days)</a:t>
            </a:r>
            <a:endParaRPr lang="en-US" sz="1207" dirty="0"/>
          </a:p>
          <a:p>
            <a:pPr marL="183952" indent="-155248" algn="l">
              <a:lnSpc>
                <a:spcPts val="1871"/>
              </a:lnSpc>
              <a:buSzPct val="100000"/>
              <a:buChar char="•"/>
            </a:pPr>
            <a:r>
              <a:rPr lang="en-US" sz="1207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consumer tracks its own offset — the broker's job never gets more complex</a:t>
            </a:r>
            <a:endParaRPr lang="en-US" sz="1207" dirty="0"/>
          </a:p>
        </p:txBody>
      </p:sp>
      <p:sp>
        <p:nvSpPr>
          <p:cNvPr id="12" name="Text 8"/>
          <p:cNvSpPr/>
          <p:nvPr/>
        </p:nvSpPr>
        <p:spPr>
          <a:xfrm>
            <a:off x="812800" y="5415359"/>
            <a:ext cx="10464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queues:</a:t>
            </a: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bookkeeping grows with the number of subscribers. </a:t>
            </a:r>
            <a:r>
              <a:rPr lang="en-US" sz="1200" b="1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Kafka:</a:t>
            </a:r>
            <a:r>
              <a:rPr lang="en-US" sz="12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one retention clock per topic, no matter how many consumers are reading.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Kafka Holds Up at Scale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97620"/>
          <a:ext cx="10553700" cy="3093540"/>
        </p:xfrm>
        <a:graphic>
          <a:graphicData uri="http://schemas.openxmlformats.org/drawingml/2006/table">
            <a:tbl>
              <a:tblPr/>
              <a:tblGrid>
                <a:gridCol w="274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5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EF0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Property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EF0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means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5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Durability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Events are written to disk and replicated across brokers before being acknowledged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5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Scalability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brokers and partitions to handle more throughput, with no downtime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5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Fault tolerance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Replica brokers take over automatically if a leader fails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5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Ordering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Guaranteed within a partition, so events for the same key stay in sequence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5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 throughput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Sequential disk I/O and batching let a single broker handle millions of events/sec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Kafka Shows 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095"/>
            <a:ext cx="3380284" cy="1922810"/>
          </a:xfrm>
          <a:prstGeom prst="roundRect">
            <a:avLst>
              <a:gd name="adj" fmla="val 6440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1845270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225167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analytics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73150" y="2581870"/>
            <a:ext cx="29519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 and fraud detection on live data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05809" y="1588095"/>
            <a:ext cx="3380333" cy="1922810"/>
          </a:xfrm>
          <a:prstGeom prst="roundRect">
            <a:avLst>
              <a:gd name="adj" fmla="val 6440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Databa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2984" y="1845270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2984" y="2251670"/>
            <a:ext cx="29519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 aggregation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662984" y="2581870"/>
            <a:ext cx="295196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Centralizing logs from thousands of services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95692" y="1588095"/>
            <a:ext cx="3380284" cy="1922810"/>
          </a:xfrm>
          <a:prstGeom prst="roundRect">
            <a:avLst>
              <a:gd name="adj" fmla="val 6440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Lin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2867" y="1845270"/>
            <a:ext cx="304800" cy="304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52867" y="225167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Microservice events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52867" y="2581870"/>
            <a:ext cx="29519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Decoupled communication between services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15975" y="3720455"/>
            <a:ext cx="3380284" cy="2118370"/>
          </a:xfrm>
          <a:prstGeom prst="roundRect">
            <a:avLst>
              <a:gd name="adj" fmla="val 5845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Activit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3150" y="3977630"/>
            <a:ext cx="304800" cy="304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3150" y="438403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 &amp; monitoring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073150" y="4714230"/>
            <a:ext cx="29519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 system and application metrics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405809" y="3720455"/>
            <a:ext cx="3380333" cy="2118370"/>
          </a:xfrm>
          <a:prstGeom prst="roundRect">
            <a:avLst>
              <a:gd name="adj" fmla="val 5845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Cloud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62984" y="3977630"/>
            <a:ext cx="304800" cy="304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62984" y="4384030"/>
            <a:ext cx="29519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integration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662984" y="4714230"/>
            <a:ext cx="295196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Feeding data lakes, warehouses, and search indexes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7995692" y="3720455"/>
            <a:ext cx="3380284" cy="2118370"/>
          </a:xfrm>
          <a:prstGeom prst="roundRect">
            <a:avLst>
              <a:gd name="adj" fmla="val 5845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Clock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52867" y="3977630"/>
            <a:ext cx="304800" cy="3048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52867" y="438403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 sourcing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8252867" y="4714230"/>
            <a:ext cx="29519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log as the source of truth for state changes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the Core: the Ecosystem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97620"/>
          <a:ext cx="10553700" cy="2489150"/>
        </p:xfrm>
        <a:graphic>
          <a:graphicData uri="http://schemas.openxmlformats.org/drawingml/2006/table">
            <a:tbl>
              <a:tblPr/>
              <a:tblGrid>
                <a:gridCol w="253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0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EF0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Tool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EF0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Kafka Connect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Prebuilt connectors to import/export data (databases, S3, Elasticsearch...)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Kafka Streams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Java library for building stream-processing applications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ksqlDB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SQL-like queries over streaming data, no code required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41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Schema Registry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Enforces and versions the structure of messages over time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Full Picture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7569"/>
            <a:ext cx="10560050" cy="4301530"/>
          </a:xfrm>
          <a:prstGeom prst="roundRect">
            <a:avLst>
              <a:gd name="adj" fmla="val 3469"/>
            </a:avLst>
          </a:prstGeom>
          <a:solidFill>
            <a:srgbClr val="1B2027"/>
          </a:solidFill>
          <a:ln w="635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7600" y="229612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4924" y="2506960"/>
            <a:ext cx="8061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Producer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7600" y="331212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4031" y="3522960"/>
            <a:ext cx="8079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Producer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17600" y="432812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6462" y="4538960"/>
            <a:ext cx="8030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Producer 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9150" y="2048470"/>
            <a:ext cx="4813300" cy="3543300"/>
          </a:xfrm>
          <a:prstGeom prst="roundRect">
            <a:avLst>
              <a:gd name="adj" fmla="val 3405"/>
            </a:avLst>
          </a:prstGeom>
          <a:solidFill>
            <a:srgbClr val="14171C"/>
          </a:solidFill>
          <a:ln w="12700">
            <a:solidFill>
              <a:srgbClr val="FF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56000" y="2194520"/>
            <a:ext cx="10058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A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 Cluster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06800" y="2677120"/>
            <a:ext cx="1397000" cy="2540000"/>
          </a:xfrm>
          <a:prstGeom prst="roundRect">
            <a:avLst>
              <a:gd name="adj" fmla="val 5455"/>
            </a:avLst>
          </a:prstGeom>
          <a:solidFill>
            <a:srgbClr val="1B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00500" y="3613100"/>
            <a:ext cx="66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Broker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4966" y="3867100"/>
            <a:ext cx="7914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Topic: orders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70830" y="4121100"/>
            <a:ext cx="18073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i="1" u="sng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P0</a:t>
            </a:r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P1</a:t>
            </a:r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IBM Plex Sans" pitchFamily="34" charset="0"/>
              </a:rPr>
              <a:t>P2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30800" y="2677120"/>
            <a:ext cx="1397000" cy="2540000"/>
          </a:xfrm>
          <a:prstGeom prst="roundRect">
            <a:avLst>
              <a:gd name="adj" fmla="val 5455"/>
            </a:avLst>
          </a:prstGeom>
          <a:solidFill>
            <a:srgbClr val="1B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24500" y="3613100"/>
            <a:ext cx="66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Broker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58966" y="3867100"/>
            <a:ext cx="7914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Topic: orders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4800" y="2677120"/>
            <a:ext cx="1397000" cy="2540000"/>
          </a:xfrm>
          <a:prstGeom prst="roundRect">
            <a:avLst>
              <a:gd name="adj" fmla="val 5455"/>
            </a:avLst>
          </a:prstGeom>
          <a:solidFill>
            <a:srgbClr val="1B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8500" y="3613100"/>
            <a:ext cx="66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Broker 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77400" y="229612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62207" y="2506960"/>
            <a:ext cx="8781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77400" y="331212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62207" y="3522960"/>
            <a:ext cx="8781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77400" y="432812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252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09956" y="4538960"/>
            <a:ext cx="118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group</a:t>
            </a:r>
            <a:endParaRPr lang="en-US" sz="1200" dirty="0"/>
          </a:p>
        </p:txBody>
      </p:sp>
      <p:pic>
        <p:nvPicPr>
          <p:cNvPr id="30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49500" y="2575520"/>
            <a:ext cx="1041400" cy="266700"/>
          </a:xfrm>
          <a:prstGeom prst="rect">
            <a:avLst/>
          </a:prstGeom>
        </p:spPr>
      </p:pic>
      <p:pic>
        <p:nvPicPr>
          <p:cNvPr id="31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49500" y="3591520"/>
            <a:ext cx="1041400" cy="76200"/>
          </a:xfrm>
          <a:prstGeom prst="rect">
            <a:avLst/>
          </a:prstGeom>
        </p:spPr>
      </p:pic>
      <p:pic>
        <p:nvPicPr>
          <p:cNvPr id="32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49500" y="4417020"/>
            <a:ext cx="1041400" cy="266700"/>
          </a:xfrm>
          <a:prstGeom prst="rect">
            <a:avLst/>
          </a:prstGeom>
        </p:spPr>
      </p:pic>
      <p:pic>
        <p:nvPicPr>
          <p:cNvPr id="33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40700" y="2575520"/>
            <a:ext cx="1536700" cy="266700"/>
          </a:xfrm>
          <a:prstGeom prst="rect">
            <a:avLst/>
          </a:prstGeom>
        </p:spPr>
      </p:pic>
      <p:pic>
        <p:nvPicPr>
          <p:cNvPr id="34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40699" y="3591519"/>
            <a:ext cx="1536699" cy="101321"/>
          </a:xfrm>
          <a:prstGeom prst="rect">
            <a:avLst/>
          </a:prstGeom>
        </p:spPr>
      </p:pic>
      <p:pic>
        <p:nvPicPr>
          <p:cNvPr id="35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40700" y="4417020"/>
            <a:ext cx="1536698" cy="2667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1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1C85FDC0-E793-0819-0DAB-2F0A78A31F15}"/>
              </a:ext>
            </a:extLst>
          </p:cNvPr>
          <p:cNvSpPr/>
          <p:nvPr/>
        </p:nvSpPr>
        <p:spPr>
          <a:xfrm>
            <a:off x="5721591" y="4121100"/>
            <a:ext cx="212484" cy="55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P0</a:t>
            </a:r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b="1" i="1" u="sng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P1</a:t>
            </a:r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IBM Plex Sans" pitchFamily="34" charset="0"/>
              </a:rPr>
              <a:t>P2</a:t>
            </a:r>
            <a:endParaRPr lang="en-US" sz="9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0FE47634-7120-A27D-A093-F712DC180134}"/>
              </a:ext>
            </a:extLst>
          </p:cNvPr>
          <p:cNvSpPr/>
          <p:nvPr/>
        </p:nvSpPr>
        <p:spPr>
          <a:xfrm>
            <a:off x="6992491" y="3867100"/>
            <a:ext cx="7914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Topic: orders</a:t>
            </a:r>
            <a:endParaRPr lang="en-US" sz="10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8D09C63C-7C4A-9747-66D9-E2BD8E7A3E5E}"/>
              </a:ext>
            </a:extLst>
          </p:cNvPr>
          <p:cNvSpPr/>
          <p:nvPr/>
        </p:nvSpPr>
        <p:spPr>
          <a:xfrm>
            <a:off x="7228355" y="4121100"/>
            <a:ext cx="18073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P0</a:t>
            </a:r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P1</a:t>
            </a:r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b="1" i="1" u="sng" dirty="0">
                <a:solidFill>
                  <a:srgbClr val="5B6470"/>
                </a:solidFill>
                <a:latin typeface="IBM Plex Sans" pitchFamily="34" charset="0"/>
              </a:rPr>
              <a:t>P2</a:t>
            </a:r>
            <a:endParaRPr lang="en-US" sz="900" b="1" i="1" u="sng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3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600150"/>
            <a:ext cx="254000" cy="25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200" y="1584920"/>
            <a:ext cx="76936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 is a </a:t>
            </a: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distributed event streaming platform</a:t>
            </a: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a traditional message queue</a:t>
            </a:r>
            <a:endParaRPr lang="en-US" sz="1600" dirty="0"/>
          </a:p>
        </p:txBody>
      </p:sp>
      <p:pic>
        <p:nvPicPr>
          <p:cNvPr id="5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62411"/>
            <a:ext cx="254000" cy="25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9200" y="2047180"/>
            <a:ext cx="59292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Topics are split into ordered </a:t>
            </a: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partitions</a:t>
            </a: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unit of parallelism</a:t>
            </a:r>
            <a:endParaRPr lang="en-US" sz="1600" dirty="0"/>
          </a:p>
        </p:txBody>
      </p:sp>
      <p:pic>
        <p:nvPicPr>
          <p:cNvPr id="7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524671"/>
            <a:ext cx="254000" cy="254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19200" y="2509441"/>
            <a:ext cx="79073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Producers</a:t>
            </a: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consumers</a:t>
            </a: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are fully decoupled — consumers control their own offset</a:t>
            </a:r>
            <a:endParaRPr lang="en-US" sz="1600" dirty="0"/>
          </a:p>
        </p:txBody>
      </p:sp>
      <p:pic>
        <p:nvPicPr>
          <p:cNvPr id="9" name="Image 3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986931"/>
            <a:ext cx="254000" cy="254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19200" y="2971701"/>
            <a:ext cx="77706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groups</a:t>
            </a: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parallelize reads, each partition to only one consumer</a:t>
            </a:r>
            <a:endParaRPr lang="en-US" sz="1600" dirty="0"/>
          </a:p>
        </p:txBody>
      </p:sp>
      <p:pic>
        <p:nvPicPr>
          <p:cNvPr id="11" name="Image 4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449191"/>
            <a:ext cx="254000" cy="254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19200" y="3433961"/>
            <a:ext cx="6381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Replication across </a:t>
            </a: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brokers</a:t>
            </a:r>
            <a:r>
              <a: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gives Kafka durability and fault tolerance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812800" y="6256040"/>
            <a:ext cx="1813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to Apache Kafka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11211520" y="6256040"/>
            <a:ext cx="2184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171C"/>
              </a:gs>
              <a:gs pos="100000">
                <a:srgbClr val="1B2027"/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048000"/>
            <a:ext cx="3810000" cy="381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259273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F6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3009255"/>
            <a:ext cx="10883392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5500" b="1" dirty="0">
                <a:solidFill>
                  <a:srgbClr val="EEF0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5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1622</Words>
  <Application>Microsoft Macintosh PowerPoint</Application>
  <PresentationFormat>Widescreen</PresentationFormat>
  <Paragraphs>225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IBM Plex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Apache Kafka</dc:title>
  <dc:subject>PptxGenJS Presentation</dc:subject>
  <dc:creator>PptxGenJS</dc:creator>
  <cp:lastModifiedBy>Lester Martin</cp:lastModifiedBy>
  <cp:revision>3</cp:revision>
  <dcterms:created xsi:type="dcterms:W3CDTF">2026-09-28T06:22:12Z</dcterms:created>
  <dcterms:modified xsi:type="dcterms:W3CDTF">2026-09-28T06:50:34Z</dcterms:modified>
</cp:coreProperties>
</file>