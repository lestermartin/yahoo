
<file path=[Content_Types].xml><?xml version="1.0" encoding="utf-8"?>
<Types xmlns="http://schemas.openxmlformats.org/package/2006/content-types"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20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24" d="100"/>
          <a:sy n="124" d="100"/>
        </p:scale>
        <p:origin x="288" y="17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presProps" Target="pres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notesMaster" Target="notesMasters/notesMaster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tableStyles" Target="tableStyle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theme" Target="theme/theme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13425624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3.png"/></Relationships>
</file>

<file path=ppt/slides/_rels/slide4.xml.rels><?xml version="1.0" encoding="UTF-8" standalone="yes"?>
<Relationships xmlns="http://schemas.openxmlformats.org/package/2006/relationships"><Relationship Id="rId8" Type="http://schemas.openxmlformats.org/officeDocument/2006/relationships/image" Target="../media/image9.png"/><Relationship Id="rId3" Type="http://schemas.openxmlformats.org/officeDocument/2006/relationships/image" Target="../media/image4.png"/><Relationship Id="rId7" Type="http://schemas.openxmlformats.org/officeDocument/2006/relationships/image" Target="../media/image8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7.png"/><Relationship Id="rId5" Type="http://schemas.openxmlformats.org/officeDocument/2006/relationships/image" Target="../media/image6.png"/><Relationship Id="rId4" Type="http://schemas.openxmlformats.org/officeDocument/2006/relationships/image" Target="../media/image5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4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8.png"/><Relationship Id="rId5" Type="http://schemas.openxmlformats.org/officeDocument/2006/relationships/image" Target="../media/image7.png"/><Relationship Id="rId4" Type="http://schemas.openxmlformats.org/officeDocument/2006/relationships/image" Target="../media/image6.png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B2A4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1B2A4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8778240" y="0"/>
            <a:ext cx="3410712" cy="6858000"/>
          </a:xfrm>
          <a:prstGeom prst="rect">
            <a:avLst/>
          </a:prstGeom>
          <a:solidFill>
            <a:srgbClr val="3E5C76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" name="Shape 2"/>
          <p:cNvSpPr/>
          <p:nvPr/>
        </p:nvSpPr>
        <p:spPr>
          <a:xfrm>
            <a:off x="10149840" y="0"/>
            <a:ext cx="2039112" cy="6858000"/>
          </a:xfrm>
          <a:prstGeom prst="rect">
            <a:avLst/>
          </a:prstGeom>
          <a:solidFill>
            <a:srgbClr val="4A6485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 txBox="1"/>
          <p:nvPr/>
        </p:nvSpPr>
        <p:spPr>
          <a:xfrm>
            <a:off x="640080" y="141732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kern="0" spc="200" dirty="0">
                <a:solidFill>
                  <a:srgbClr val="E8A3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ENTERPRISE JAVA · DEVELOPER ONBOARDING</a:t>
            </a:r>
            <a:endParaRPr lang="en-US" sz="1300" dirty="0"/>
          </a:p>
        </p:txBody>
      </p:sp>
      <p:sp>
        <p:nvSpPr>
          <p:cNvPr id="6" name="Text 4"/>
          <p:cNvSpPr txBox="1"/>
          <p:nvPr/>
        </p:nvSpPr>
        <p:spPr>
          <a:xfrm>
            <a:off x="621792" y="1828800"/>
            <a:ext cx="8046720" cy="1920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5000"/>
              </a:lnSpc>
              <a:buNone/>
            </a:pPr>
            <a:r>
              <a:rPr lang="en-US" sz="4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Object Stereotypes</a:t>
            </a:r>
            <a:endParaRPr lang="en-US" sz="4200" dirty="0"/>
          </a:p>
          <a:p>
            <a:pPr marL="0" indent="0">
              <a:lnSpc>
                <a:spcPct val="105000"/>
              </a:lnSpc>
              <a:buNone/>
            </a:pPr>
            <a:r>
              <a:rPr lang="en-US" sz="4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for Spring Boot Applications</a:t>
            </a:r>
            <a:endParaRPr lang="en-US" sz="4200" dirty="0"/>
          </a:p>
        </p:txBody>
      </p:sp>
      <p:sp>
        <p:nvSpPr>
          <p:cNvPr id="7" name="Text 5"/>
          <p:cNvSpPr txBox="1"/>
          <p:nvPr/>
        </p:nvSpPr>
        <p:spPr>
          <a:xfrm>
            <a:off x="640080" y="3794760"/>
            <a:ext cx="7863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D8E3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Domain Objects · Validators · Service Layers · Data Access Classes</a:t>
            </a:r>
            <a:endParaRPr lang="en-US" sz="1600" dirty="0"/>
          </a:p>
        </p:txBody>
      </p:sp>
      <p:sp>
        <p:nvSpPr>
          <p:cNvPr id="8" name="Shape 6"/>
          <p:cNvSpPr/>
          <p:nvPr/>
        </p:nvSpPr>
        <p:spPr>
          <a:xfrm>
            <a:off x="640080" y="3611880"/>
            <a:ext cx="1005840" cy="0"/>
          </a:xfrm>
          <a:prstGeom prst="line">
            <a:avLst/>
          </a:prstGeom>
          <a:noFill/>
          <a:ln w="38100">
            <a:solidFill>
              <a:srgbClr val="E8A33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" name="Text 7"/>
          <p:cNvSpPr txBox="1"/>
          <p:nvPr/>
        </p:nvSpPr>
        <p:spPr>
          <a:xfrm>
            <a:off x="640080" y="5989320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i="1" dirty="0">
                <a:solidFill>
                  <a:srgbClr val="D8E3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practical guide to writing code that fits the architecture</a:t>
            </a:r>
            <a:endParaRPr lang="en-US" sz="1300" dirty="0"/>
          </a:p>
        </p:txBody>
      </p:sp>
      <p:sp>
        <p:nvSpPr>
          <p:cNvPr id="10" name="Text 5">
            <a:extLst>
              <a:ext uri="{FF2B5EF4-FFF2-40B4-BE49-F238E27FC236}">
                <a16:creationId xmlns:a16="http://schemas.microsoft.com/office/drawing/2014/main" id="{C3CF9F97-F2EF-83D1-8E27-5303F52BE09D}"/>
              </a:ext>
            </a:extLst>
          </p:cNvPr>
          <p:cNvSpPr txBox="1"/>
          <p:nvPr/>
        </p:nvSpPr>
        <p:spPr>
          <a:xfrm>
            <a:off x="1348483" y="4823460"/>
            <a:ext cx="7863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FF0000"/>
                </a:solidFill>
                <a:latin typeface="Calibri" pitchFamily="34" charset="0"/>
                <a:cs typeface="Calibri" pitchFamily="34" charset="-120"/>
              </a:rPr>
              <a:t>NOTE: This is for quick awareness of some ”types” of objects that may exist in</a:t>
            </a:r>
          </a:p>
          <a:p>
            <a:pPr marL="0" indent="0">
              <a:buNone/>
            </a:pPr>
            <a:r>
              <a:rPr lang="en-US" sz="1600" dirty="0">
                <a:solidFill>
                  <a:srgbClr val="FF0000"/>
                </a:solidFill>
                <a:latin typeface="Calibri" pitchFamily="34" charset="0"/>
                <a:cs typeface="Calibri" pitchFamily="34" charset="-120"/>
              </a:rPr>
              <a:t>your solution. It is NOT a cookbook and again, is here for awareness, not reference</a:t>
            </a:r>
            <a:endParaRPr lang="en-US" sz="1600" dirty="0">
              <a:solidFill>
                <a:srgbClr val="FF0000"/>
              </a:solidFill>
            </a:endParaRPr>
          </a:p>
        </p:txBody>
      </p:sp>
      <p:pic>
        <p:nvPicPr>
          <p:cNvPr id="11" name="Picture 10" descr="Download radiation sign template, print radiation warning symbol">
            <a:extLst>
              <a:ext uri="{FF2B5EF4-FFF2-40B4-BE49-F238E27FC236}">
                <a16:creationId xmlns:a16="http://schemas.microsoft.com/office/drawing/2014/main" id="{5DBA967D-5582-1A6E-AF6D-5B0393419D7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346183" y="3528060"/>
            <a:ext cx="2146300" cy="304800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BFB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84048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E8A3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AGENDA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58368"/>
            <a:ext cx="110642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B2A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What we'll cover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1600200"/>
            <a:ext cx="457200" cy="457200"/>
          </a:xfrm>
          <a:prstGeom prst="roundRect">
            <a:avLst>
              <a:gd name="adj" fmla="val 16000"/>
            </a:avLst>
          </a:prstGeom>
          <a:solidFill>
            <a:srgbClr val="1B2A4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 txBox="1"/>
          <p:nvPr/>
        </p:nvSpPr>
        <p:spPr>
          <a:xfrm>
            <a:off x="548640" y="160020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1800" dirty="0"/>
          </a:p>
        </p:txBody>
      </p:sp>
      <p:sp>
        <p:nvSpPr>
          <p:cNvPr id="6" name="Text 4"/>
          <p:cNvSpPr txBox="1"/>
          <p:nvPr/>
        </p:nvSpPr>
        <p:spPr>
          <a:xfrm>
            <a:off x="1170432" y="1554480"/>
            <a:ext cx="4800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Stereotypes Matter</a:t>
            </a:r>
            <a:endParaRPr lang="en-US" sz="1600" dirty="0"/>
          </a:p>
        </p:txBody>
      </p:sp>
      <p:sp>
        <p:nvSpPr>
          <p:cNvPr id="7" name="Text 5"/>
          <p:cNvSpPr txBox="1"/>
          <p:nvPr/>
        </p:nvSpPr>
        <p:spPr>
          <a:xfrm>
            <a:off x="1170432" y="1892808"/>
            <a:ext cx="4800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5B6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cost of tangled code, and what structure buys you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548640" y="2651760"/>
            <a:ext cx="457200" cy="457200"/>
          </a:xfrm>
          <a:prstGeom prst="roundRect">
            <a:avLst>
              <a:gd name="adj" fmla="val 16000"/>
            </a:avLst>
          </a:prstGeom>
          <a:solidFill>
            <a:srgbClr val="1B2A4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9" name="Text 7"/>
          <p:cNvSpPr txBox="1"/>
          <p:nvPr/>
        </p:nvSpPr>
        <p:spPr>
          <a:xfrm>
            <a:off x="548640" y="265176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1800" dirty="0"/>
          </a:p>
        </p:txBody>
      </p:sp>
      <p:sp>
        <p:nvSpPr>
          <p:cNvPr id="10" name="Text 8"/>
          <p:cNvSpPr txBox="1"/>
          <p:nvPr/>
        </p:nvSpPr>
        <p:spPr>
          <a:xfrm>
            <a:off x="1170432" y="2606040"/>
            <a:ext cx="4800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Layered Architecture</a:t>
            </a:r>
            <a:endParaRPr lang="en-US" sz="1600" dirty="0"/>
          </a:p>
        </p:txBody>
      </p:sp>
      <p:sp>
        <p:nvSpPr>
          <p:cNvPr id="11" name="Text 9"/>
          <p:cNvSpPr txBox="1"/>
          <p:nvPr/>
        </p:nvSpPr>
        <p:spPr>
          <a:xfrm>
            <a:off x="1170432" y="2944368"/>
            <a:ext cx="4800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5B6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a request flows from controller to database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548640" y="3703320"/>
            <a:ext cx="457200" cy="457200"/>
          </a:xfrm>
          <a:prstGeom prst="roundRect">
            <a:avLst>
              <a:gd name="adj" fmla="val 16000"/>
            </a:avLst>
          </a:prstGeom>
          <a:solidFill>
            <a:srgbClr val="1B2A4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3" name="Text 11"/>
          <p:cNvSpPr txBox="1"/>
          <p:nvPr/>
        </p:nvSpPr>
        <p:spPr>
          <a:xfrm>
            <a:off x="548640" y="370332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1800" dirty="0"/>
          </a:p>
        </p:txBody>
      </p:sp>
      <p:sp>
        <p:nvSpPr>
          <p:cNvPr id="14" name="Text 12"/>
          <p:cNvSpPr txBox="1"/>
          <p:nvPr/>
        </p:nvSpPr>
        <p:spPr>
          <a:xfrm>
            <a:off x="1170432" y="3657600"/>
            <a:ext cx="4800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Domain Objects</a:t>
            </a:r>
            <a:endParaRPr lang="en-US" sz="1600" dirty="0"/>
          </a:p>
        </p:txBody>
      </p:sp>
      <p:sp>
        <p:nvSpPr>
          <p:cNvPr id="15" name="Text 13"/>
          <p:cNvSpPr txBox="1"/>
          <p:nvPr/>
        </p:nvSpPr>
        <p:spPr>
          <a:xfrm>
            <a:off x="1170432" y="3995928"/>
            <a:ext cx="4800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5B6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Modeling the business, not the database row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548640" y="4754880"/>
            <a:ext cx="457200" cy="457200"/>
          </a:xfrm>
          <a:prstGeom prst="roundRect">
            <a:avLst>
              <a:gd name="adj" fmla="val 16000"/>
            </a:avLst>
          </a:prstGeom>
          <a:solidFill>
            <a:srgbClr val="1B2A4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7" name="Text 15"/>
          <p:cNvSpPr txBox="1"/>
          <p:nvPr/>
        </p:nvSpPr>
        <p:spPr>
          <a:xfrm>
            <a:off x="548640" y="475488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</a:t>
            </a:r>
            <a:endParaRPr lang="en-US" sz="1800" dirty="0"/>
          </a:p>
        </p:txBody>
      </p:sp>
      <p:sp>
        <p:nvSpPr>
          <p:cNvPr id="18" name="Text 16"/>
          <p:cNvSpPr txBox="1"/>
          <p:nvPr/>
        </p:nvSpPr>
        <p:spPr>
          <a:xfrm>
            <a:off x="1170432" y="4709160"/>
            <a:ext cx="4800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Validators</a:t>
            </a:r>
            <a:endParaRPr lang="en-US" sz="1600" dirty="0"/>
          </a:p>
        </p:txBody>
      </p:sp>
      <p:sp>
        <p:nvSpPr>
          <p:cNvPr id="19" name="Text 17"/>
          <p:cNvSpPr txBox="1"/>
          <p:nvPr/>
        </p:nvSpPr>
        <p:spPr>
          <a:xfrm>
            <a:off x="1170432" y="5047488"/>
            <a:ext cx="4800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5B6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Keeping bad data out, consistently</a:t>
            </a:r>
            <a:endParaRPr lang="en-US" sz="1200" dirty="0"/>
          </a:p>
        </p:txBody>
      </p:sp>
      <p:sp>
        <p:nvSpPr>
          <p:cNvPr id="20" name="Shape 18"/>
          <p:cNvSpPr/>
          <p:nvPr/>
        </p:nvSpPr>
        <p:spPr>
          <a:xfrm>
            <a:off x="6355080" y="1600200"/>
            <a:ext cx="457200" cy="457200"/>
          </a:xfrm>
          <a:prstGeom prst="roundRect">
            <a:avLst>
              <a:gd name="adj" fmla="val 16000"/>
            </a:avLst>
          </a:prstGeom>
          <a:solidFill>
            <a:srgbClr val="1B2A4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1" name="Text 19"/>
          <p:cNvSpPr txBox="1"/>
          <p:nvPr/>
        </p:nvSpPr>
        <p:spPr>
          <a:xfrm>
            <a:off x="6355080" y="160020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5</a:t>
            </a:r>
            <a:endParaRPr lang="en-US" sz="1800" dirty="0"/>
          </a:p>
        </p:txBody>
      </p:sp>
      <p:sp>
        <p:nvSpPr>
          <p:cNvPr id="22" name="Text 20"/>
          <p:cNvSpPr txBox="1"/>
          <p:nvPr/>
        </p:nvSpPr>
        <p:spPr>
          <a:xfrm>
            <a:off x="6976872" y="1554480"/>
            <a:ext cx="4800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Service Layer</a:t>
            </a:r>
            <a:endParaRPr lang="en-US" sz="1600" dirty="0"/>
          </a:p>
        </p:txBody>
      </p:sp>
      <p:sp>
        <p:nvSpPr>
          <p:cNvPr id="23" name="Text 21"/>
          <p:cNvSpPr txBox="1"/>
          <p:nvPr/>
        </p:nvSpPr>
        <p:spPr>
          <a:xfrm>
            <a:off x="6976872" y="1892808"/>
            <a:ext cx="4800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5B6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Where business logic and transactions live</a:t>
            </a:r>
            <a:endParaRPr lang="en-US" sz="1200" dirty="0"/>
          </a:p>
        </p:txBody>
      </p:sp>
      <p:sp>
        <p:nvSpPr>
          <p:cNvPr id="24" name="Shape 22"/>
          <p:cNvSpPr/>
          <p:nvPr/>
        </p:nvSpPr>
        <p:spPr>
          <a:xfrm>
            <a:off x="6355080" y="2651760"/>
            <a:ext cx="457200" cy="457200"/>
          </a:xfrm>
          <a:prstGeom prst="roundRect">
            <a:avLst>
              <a:gd name="adj" fmla="val 16000"/>
            </a:avLst>
          </a:prstGeom>
          <a:solidFill>
            <a:srgbClr val="1B2A4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5" name="Text 23"/>
          <p:cNvSpPr txBox="1"/>
          <p:nvPr/>
        </p:nvSpPr>
        <p:spPr>
          <a:xfrm>
            <a:off x="6355080" y="265176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6</a:t>
            </a:r>
            <a:endParaRPr lang="en-US" sz="1800" dirty="0"/>
          </a:p>
        </p:txBody>
      </p:sp>
      <p:sp>
        <p:nvSpPr>
          <p:cNvPr id="26" name="Text 24"/>
          <p:cNvSpPr txBox="1"/>
          <p:nvPr/>
        </p:nvSpPr>
        <p:spPr>
          <a:xfrm>
            <a:off x="6976872" y="2606040"/>
            <a:ext cx="4800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Access Classes</a:t>
            </a:r>
            <a:endParaRPr lang="en-US" sz="1600" dirty="0"/>
          </a:p>
        </p:txBody>
      </p:sp>
      <p:sp>
        <p:nvSpPr>
          <p:cNvPr id="27" name="Text 25"/>
          <p:cNvSpPr txBox="1"/>
          <p:nvPr/>
        </p:nvSpPr>
        <p:spPr>
          <a:xfrm>
            <a:off x="6976872" y="2944368"/>
            <a:ext cx="4800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5B6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Repositories, and why they stay dumb</a:t>
            </a:r>
            <a:endParaRPr lang="en-US" sz="1200" dirty="0"/>
          </a:p>
        </p:txBody>
      </p:sp>
      <p:sp>
        <p:nvSpPr>
          <p:cNvPr id="28" name="Shape 26"/>
          <p:cNvSpPr/>
          <p:nvPr/>
        </p:nvSpPr>
        <p:spPr>
          <a:xfrm>
            <a:off x="6355080" y="3703320"/>
            <a:ext cx="457200" cy="457200"/>
          </a:xfrm>
          <a:prstGeom prst="roundRect">
            <a:avLst>
              <a:gd name="adj" fmla="val 16000"/>
            </a:avLst>
          </a:prstGeom>
          <a:solidFill>
            <a:srgbClr val="1B2A4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9" name="Text 27"/>
          <p:cNvSpPr txBox="1"/>
          <p:nvPr/>
        </p:nvSpPr>
        <p:spPr>
          <a:xfrm>
            <a:off x="6355080" y="370332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7</a:t>
            </a:r>
            <a:endParaRPr lang="en-US" sz="1800" dirty="0"/>
          </a:p>
        </p:txBody>
      </p:sp>
      <p:sp>
        <p:nvSpPr>
          <p:cNvPr id="30" name="Text 28"/>
          <p:cNvSpPr txBox="1"/>
          <p:nvPr/>
        </p:nvSpPr>
        <p:spPr>
          <a:xfrm>
            <a:off x="6976872" y="3657600"/>
            <a:ext cx="4800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Anti-Patterns &amp; Conventions</a:t>
            </a:r>
            <a:endParaRPr lang="en-US" sz="1600" dirty="0"/>
          </a:p>
        </p:txBody>
      </p:sp>
      <p:sp>
        <p:nvSpPr>
          <p:cNvPr id="31" name="Text 29"/>
          <p:cNvSpPr txBox="1"/>
          <p:nvPr/>
        </p:nvSpPr>
        <p:spPr>
          <a:xfrm>
            <a:off x="6976872" y="3995928"/>
            <a:ext cx="4800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5B6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Mistakes to avoid, and how we name things</a:t>
            </a:r>
            <a:endParaRPr lang="en-US" sz="1200" dirty="0"/>
          </a:p>
        </p:txBody>
      </p:sp>
      <p:sp>
        <p:nvSpPr>
          <p:cNvPr id="32" name="Text 30"/>
          <p:cNvSpPr txBox="1"/>
          <p:nvPr/>
        </p:nvSpPr>
        <p:spPr>
          <a:xfrm>
            <a:off x="11475720" y="647395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5B6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BFB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84048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E8A3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MOTIVATION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58368"/>
            <a:ext cx="110642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B2A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Why object stereotypes matter</a:t>
            </a:r>
            <a:endParaRPr lang="en-US" sz="30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1554480"/>
            <a:ext cx="557784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500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 a small script, it doesn't matter where a line of code lives. In an enterprise codebase touched by dozens of developers over years, it matters enormously.</a:t>
            </a:r>
            <a:endParaRPr lang="en-US" sz="1500" dirty="0"/>
          </a:p>
        </p:txBody>
      </p:sp>
      <p:sp>
        <p:nvSpPr>
          <p:cNvPr id="5" name="Text 3"/>
          <p:cNvSpPr txBox="1"/>
          <p:nvPr/>
        </p:nvSpPr>
        <p:spPr>
          <a:xfrm>
            <a:off x="548640" y="2606040"/>
            <a:ext cx="557784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500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stereotype is a well-known role an object plays: domain object, validator, service, or DAO. When every class fits a recognized role, new developers can predict where logic lives before they've read a single line.</a:t>
            </a:r>
            <a:endParaRPr lang="en-US" sz="1500" dirty="0"/>
          </a:p>
        </p:txBody>
      </p:sp>
      <p:sp>
        <p:nvSpPr>
          <p:cNvPr id="6" name="Shape 4"/>
          <p:cNvSpPr/>
          <p:nvPr/>
        </p:nvSpPr>
        <p:spPr>
          <a:xfrm>
            <a:off x="640080" y="3913632"/>
            <a:ext cx="457200" cy="457200"/>
          </a:xfrm>
          <a:prstGeom prst="ellipse">
            <a:avLst/>
          </a:prstGeom>
          <a:solidFill>
            <a:srgbClr val="1B2A4A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7" name="Image 0" descr="/home/claude/deck/icon_check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58952" y="4032504"/>
            <a:ext cx="219456" cy="219456"/>
          </a:xfrm>
          <a:prstGeom prst="rect">
            <a:avLst/>
          </a:prstGeom>
        </p:spPr>
      </p:pic>
      <p:sp>
        <p:nvSpPr>
          <p:cNvPr id="8" name="Text 5"/>
          <p:cNvSpPr txBox="1"/>
          <p:nvPr/>
        </p:nvSpPr>
        <p:spPr>
          <a:xfrm>
            <a:off x="1234440" y="3904488"/>
            <a:ext cx="4114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Predictability</a:t>
            </a:r>
            <a:endParaRPr lang="en-US" sz="1400" dirty="0"/>
          </a:p>
        </p:txBody>
      </p:sp>
      <p:sp>
        <p:nvSpPr>
          <p:cNvPr id="9" name="Text 6"/>
          <p:cNvSpPr txBox="1"/>
          <p:nvPr/>
        </p:nvSpPr>
        <p:spPr>
          <a:xfrm>
            <a:off x="1234440" y="4160520"/>
            <a:ext cx="44805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5B6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Anyone can guess where logic lives</a:t>
            </a:r>
            <a:endParaRPr lang="en-US" sz="1200" dirty="0"/>
          </a:p>
        </p:txBody>
      </p:sp>
      <p:sp>
        <p:nvSpPr>
          <p:cNvPr id="10" name="Shape 7"/>
          <p:cNvSpPr/>
          <p:nvPr/>
        </p:nvSpPr>
        <p:spPr>
          <a:xfrm>
            <a:off x="640080" y="4599432"/>
            <a:ext cx="457200" cy="457200"/>
          </a:xfrm>
          <a:prstGeom prst="ellipse">
            <a:avLst/>
          </a:prstGeom>
          <a:solidFill>
            <a:srgbClr val="1B2A4A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11" name="Image 1" descr="/home/claude/deck/icon_check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58952" y="4718304"/>
            <a:ext cx="219456" cy="219456"/>
          </a:xfrm>
          <a:prstGeom prst="rect">
            <a:avLst/>
          </a:prstGeom>
        </p:spPr>
      </p:pic>
      <p:sp>
        <p:nvSpPr>
          <p:cNvPr id="12" name="Text 8"/>
          <p:cNvSpPr txBox="1"/>
          <p:nvPr/>
        </p:nvSpPr>
        <p:spPr>
          <a:xfrm>
            <a:off x="1234440" y="4590288"/>
            <a:ext cx="4114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Testability</a:t>
            </a:r>
            <a:endParaRPr lang="en-US" sz="1400" dirty="0"/>
          </a:p>
        </p:txBody>
      </p:sp>
      <p:sp>
        <p:nvSpPr>
          <p:cNvPr id="13" name="Text 9"/>
          <p:cNvSpPr txBox="1"/>
          <p:nvPr/>
        </p:nvSpPr>
        <p:spPr>
          <a:xfrm>
            <a:off x="1234440" y="4846320"/>
            <a:ext cx="44805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5B6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Each layer is tested in isolation</a:t>
            </a:r>
            <a:endParaRPr lang="en-US" sz="1200" dirty="0"/>
          </a:p>
        </p:txBody>
      </p:sp>
      <p:sp>
        <p:nvSpPr>
          <p:cNvPr id="14" name="Shape 10"/>
          <p:cNvSpPr/>
          <p:nvPr/>
        </p:nvSpPr>
        <p:spPr>
          <a:xfrm>
            <a:off x="640080" y="5285232"/>
            <a:ext cx="457200" cy="457200"/>
          </a:xfrm>
          <a:prstGeom prst="ellipse">
            <a:avLst/>
          </a:prstGeom>
          <a:solidFill>
            <a:srgbClr val="1B2A4A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15" name="Image 2" descr="/home/claude/deck/icon_check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58952" y="5404104"/>
            <a:ext cx="219456" cy="219456"/>
          </a:xfrm>
          <a:prstGeom prst="rect">
            <a:avLst/>
          </a:prstGeom>
        </p:spPr>
      </p:pic>
      <p:sp>
        <p:nvSpPr>
          <p:cNvPr id="16" name="Text 11"/>
          <p:cNvSpPr txBox="1"/>
          <p:nvPr/>
        </p:nvSpPr>
        <p:spPr>
          <a:xfrm>
            <a:off x="1234440" y="5276088"/>
            <a:ext cx="4114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Safe change</a:t>
            </a:r>
            <a:endParaRPr lang="en-US" sz="1400" dirty="0"/>
          </a:p>
        </p:txBody>
      </p:sp>
      <p:sp>
        <p:nvSpPr>
          <p:cNvPr id="17" name="Text 12"/>
          <p:cNvSpPr txBox="1"/>
          <p:nvPr/>
        </p:nvSpPr>
        <p:spPr>
          <a:xfrm>
            <a:off x="1234440" y="5532120"/>
            <a:ext cx="44805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5B6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Swap a database without touching business rules</a:t>
            </a:r>
            <a:endParaRPr lang="en-US" sz="1200" dirty="0"/>
          </a:p>
        </p:txBody>
      </p:sp>
      <p:sp>
        <p:nvSpPr>
          <p:cNvPr id="18" name="Shape 13"/>
          <p:cNvSpPr/>
          <p:nvPr/>
        </p:nvSpPr>
        <p:spPr>
          <a:xfrm>
            <a:off x="6537960" y="1554480"/>
            <a:ext cx="5074920" cy="4480560"/>
          </a:xfrm>
          <a:prstGeom prst="roundRect">
            <a:avLst>
              <a:gd name="adj" fmla="val 2041"/>
            </a:avLst>
          </a:prstGeom>
          <a:solidFill>
            <a:srgbClr val="1B2A4A"/>
          </a:solidFill>
          <a:ln/>
          <a:effectLst>
            <a:outerShdw blurRad="101600" dist="38100" dir="5400000" algn="bl" rotWithShape="0">
              <a:srgbClr val="000000">
                <a:alpha val="2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9" name="Shape 14"/>
          <p:cNvSpPr/>
          <p:nvPr/>
        </p:nvSpPr>
        <p:spPr>
          <a:xfrm>
            <a:off x="6858000" y="1874520"/>
            <a:ext cx="640080" cy="640080"/>
          </a:xfrm>
          <a:prstGeom prst="ellipse">
            <a:avLst/>
          </a:prstGeom>
          <a:solidFill>
            <a:srgbClr val="3E5C76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20" name="Image 3" descr="/home/claude/deck/icon_warning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022592" y="2039112"/>
            <a:ext cx="310896" cy="310896"/>
          </a:xfrm>
          <a:prstGeom prst="rect">
            <a:avLst/>
          </a:prstGeom>
        </p:spPr>
      </p:pic>
      <p:sp>
        <p:nvSpPr>
          <p:cNvPr id="21" name="Text 15"/>
          <p:cNvSpPr txBox="1"/>
          <p:nvPr/>
        </p:nvSpPr>
        <p:spPr>
          <a:xfrm>
            <a:off x="7635240" y="1874520"/>
            <a:ext cx="37490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Without structure...</a:t>
            </a:r>
            <a:endParaRPr lang="en-US" sz="1800" dirty="0"/>
          </a:p>
        </p:txBody>
      </p:sp>
      <p:sp>
        <p:nvSpPr>
          <p:cNvPr id="22" name="Text 16"/>
          <p:cNvSpPr txBox="1"/>
          <p:nvPr/>
        </p:nvSpPr>
        <p:spPr>
          <a:xfrm>
            <a:off x="6858000" y="2788920"/>
            <a:ext cx="274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E8A3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</a:t>
            </a:r>
            <a:endParaRPr lang="en-US" sz="1400" dirty="0"/>
          </a:p>
        </p:txBody>
      </p:sp>
      <p:sp>
        <p:nvSpPr>
          <p:cNvPr id="23" name="Text 17"/>
          <p:cNvSpPr txBox="1"/>
          <p:nvPr/>
        </p:nvSpPr>
        <p:spPr>
          <a:xfrm>
            <a:off x="7178040" y="2788920"/>
            <a:ext cx="42062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0000"/>
              </a:lnSpc>
              <a:buNone/>
            </a:pPr>
            <a:r>
              <a:rPr lang="en-US" sz="1300" dirty="0">
                <a:solidFill>
                  <a:srgbClr val="D8E3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SQL queries scattered inside web controllers</a:t>
            </a:r>
            <a:endParaRPr lang="en-US" sz="1300" dirty="0"/>
          </a:p>
        </p:txBody>
      </p:sp>
      <p:sp>
        <p:nvSpPr>
          <p:cNvPr id="24" name="Text 18"/>
          <p:cNvSpPr txBox="1"/>
          <p:nvPr/>
        </p:nvSpPr>
        <p:spPr>
          <a:xfrm>
            <a:off x="6858000" y="3410712"/>
            <a:ext cx="274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E8A3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</a:t>
            </a:r>
            <a:endParaRPr lang="en-US" sz="1400" dirty="0"/>
          </a:p>
        </p:txBody>
      </p:sp>
      <p:sp>
        <p:nvSpPr>
          <p:cNvPr id="25" name="Text 19"/>
          <p:cNvSpPr txBox="1"/>
          <p:nvPr/>
        </p:nvSpPr>
        <p:spPr>
          <a:xfrm>
            <a:off x="7178040" y="3410712"/>
            <a:ext cx="42062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0000"/>
              </a:lnSpc>
              <a:buNone/>
            </a:pPr>
            <a:r>
              <a:rPr lang="en-US" sz="1300" dirty="0">
                <a:solidFill>
                  <a:srgbClr val="D8E3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Validation logic duplicated in five places</a:t>
            </a:r>
            <a:endParaRPr lang="en-US" sz="1300" dirty="0"/>
          </a:p>
        </p:txBody>
      </p:sp>
      <p:sp>
        <p:nvSpPr>
          <p:cNvPr id="26" name="Text 20"/>
          <p:cNvSpPr txBox="1"/>
          <p:nvPr/>
        </p:nvSpPr>
        <p:spPr>
          <a:xfrm>
            <a:off x="6858000" y="4032504"/>
            <a:ext cx="274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E8A3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</a:t>
            </a:r>
            <a:endParaRPr lang="en-US" sz="1400" dirty="0"/>
          </a:p>
        </p:txBody>
      </p:sp>
      <p:sp>
        <p:nvSpPr>
          <p:cNvPr id="27" name="Text 21"/>
          <p:cNvSpPr txBox="1"/>
          <p:nvPr/>
        </p:nvSpPr>
        <p:spPr>
          <a:xfrm>
            <a:off x="7178040" y="4032504"/>
            <a:ext cx="42062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0000"/>
              </a:lnSpc>
              <a:buNone/>
            </a:pPr>
            <a:r>
              <a:rPr lang="en-US" sz="1300" dirty="0">
                <a:solidFill>
                  <a:srgbClr val="D8E3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Business rules mixed with HTTP request handling</a:t>
            </a:r>
            <a:endParaRPr lang="en-US" sz="1300" dirty="0"/>
          </a:p>
        </p:txBody>
      </p:sp>
      <p:sp>
        <p:nvSpPr>
          <p:cNvPr id="28" name="Text 22"/>
          <p:cNvSpPr txBox="1"/>
          <p:nvPr/>
        </p:nvSpPr>
        <p:spPr>
          <a:xfrm>
            <a:off x="6858000" y="4654296"/>
            <a:ext cx="274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E8A3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</a:t>
            </a:r>
            <a:endParaRPr lang="en-US" sz="1400" dirty="0"/>
          </a:p>
        </p:txBody>
      </p:sp>
      <p:sp>
        <p:nvSpPr>
          <p:cNvPr id="29" name="Text 23"/>
          <p:cNvSpPr txBox="1"/>
          <p:nvPr/>
        </p:nvSpPr>
        <p:spPr>
          <a:xfrm>
            <a:off x="7178040" y="4654296"/>
            <a:ext cx="42062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0000"/>
              </a:lnSpc>
              <a:buNone/>
            </a:pPr>
            <a:r>
              <a:rPr lang="en-US" sz="1300" dirty="0">
                <a:solidFill>
                  <a:srgbClr val="D8E3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single 2,000-line "God class" nobody wants to touch</a:t>
            </a:r>
            <a:endParaRPr lang="en-US" sz="1300" dirty="0"/>
          </a:p>
        </p:txBody>
      </p:sp>
      <p:sp>
        <p:nvSpPr>
          <p:cNvPr id="30" name="Text 24"/>
          <p:cNvSpPr txBox="1"/>
          <p:nvPr/>
        </p:nvSpPr>
        <p:spPr>
          <a:xfrm>
            <a:off x="6858000" y="5276088"/>
            <a:ext cx="274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E8A3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</a:t>
            </a:r>
            <a:endParaRPr lang="en-US" sz="1400" dirty="0"/>
          </a:p>
        </p:txBody>
      </p:sp>
      <p:sp>
        <p:nvSpPr>
          <p:cNvPr id="31" name="Text 25"/>
          <p:cNvSpPr txBox="1"/>
          <p:nvPr/>
        </p:nvSpPr>
        <p:spPr>
          <a:xfrm>
            <a:off x="7178040" y="5276088"/>
            <a:ext cx="42062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0000"/>
              </a:lnSpc>
              <a:buNone/>
            </a:pPr>
            <a:r>
              <a:rPr lang="en-US" sz="1300" dirty="0">
                <a:solidFill>
                  <a:srgbClr val="D8E3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Tests that require a live database for everything</a:t>
            </a:r>
            <a:endParaRPr lang="en-US" sz="1300" dirty="0"/>
          </a:p>
        </p:txBody>
      </p:sp>
      <p:sp>
        <p:nvSpPr>
          <p:cNvPr id="32" name="Text 26"/>
          <p:cNvSpPr txBox="1"/>
          <p:nvPr/>
        </p:nvSpPr>
        <p:spPr>
          <a:xfrm>
            <a:off x="11475720" y="647395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5B6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0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BFB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84048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E8A3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ARCHITECTURE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58368"/>
            <a:ext cx="110642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B2A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How a request flows through the layers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2148840"/>
            <a:ext cx="1965960" cy="1783080"/>
          </a:xfrm>
          <a:prstGeom prst="roundRect">
            <a:avLst>
              <a:gd name="adj" fmla="val 5128"/>
            </a:avLst>
          </a:prstGeom>
          <a:solidFill>
            <a:srgbClr val="FFFFFF"/>
          </a:solidFill>
          <a:ln w="19050">
            <a:solidFill>
              <a:srgbClr val="3E5C76"/>
            </a:solidFill>
            <a:prstDash val="solid"/>
          </a:ln>
          <a:effectLst>
            <a:outerShdw blurRad="63500" dist="25400" dir="5400000" algn="bl" rotWithShape="0">
              <a:srgbClr val="000000">
                <a:alpha val="15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5" name="Shape 3"/>
          <p:cNvSpPr/>
          <p:nvPr/>
        </p:nvSpPr>
        <p:spPr>
          <a:xfrm>
            <a:off x="1248156" y="2322576"/>
            <a:ext cx="566928" cy="566928"/>
          </a:xfrm>
          <a:prstGeom prst="ellipse">
            <a:avLst/>
          </a:prstGeom>
          <a:solidFill>
            <a:srgbClr val="3E5C76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6" name="Image 0" descr="/home/claude/deck/icon_exchan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394460" y="2468880"/>
            <a:ext cx="274320" cy="274320"/>
          </a:xfrm>
          <a:prstGeom prst="rect">
            <a:avLst/>
          </a:prstGeom>
        </p:spPr>
      </p:pic>
      <p:sp>
        <p:nvSpPr>
          <p:cNvPr id="7" name="Text 4"/>
          <p:cNvSpPr txBox="1"/>
          <p:nvPr/>
        </p:nvSpPr>
        <p:spPr>
          <a:xfrm>
            <a:off x="621792" y="2971800"/>
            <a:ext cx="1819656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5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Controller</a:t>
            </a:r>
            <a:endParaRPr lang="en-US" sz="1250" dirty="0"/>
          </a:p>
        </p:txBody>
      </p:sp>
      <p:sp>
        <p:nvSpPr>
          <p:cNvPr id="8" name="Text 5"/>
          <p:cNvSpPr txBox="1"/>
          <p:nvPr/>
        </p:nvSpPr>
        <p:spPr>
          <a:xfrm>
            <a:off x="640080" y="3264408"/>
            <a:ext cx="178308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05000"/>
              </a:lnSpc>
              <a:buNone/>
            </a:pPr>
            <a:r>
              <a:rPr lang="en-US" sz="950" dirty="0">
                <a:solidFill>
                  <a:srgbClr val="5B6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Accepts HTTP requests, delegates work</a:t>
            </a:r>
            <a:endParaRPr lang="en-US" sz="950" dirty="0"/>
          </a:p>
        </p:txBody>
      </p:sp>
      <p:sp>
        <p:nvSpPr>
          <p:cNvPr id="9" name="Shape 6"/>
          <p:cNvSpPr/>
          <p:nvPr/>
        </p:nvSpPr>
        <p:spPr>
          <a:xfrm>
            <a:off x="2505456" y="2903220"/>
            <a:ext cx="274320" cy="274320"/>
          </a:xfrm>
          <a:prstGeom prst="ellipse">
            <a:avLst/>
          </a:prstGeom>
          <a:solidFill>
            <a:srgbClr val="D8E3F0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10" name="Image 1" descr="/home/claude/deck/icon_arrow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569464" y="2967228"/>
            <a:ext cx="146304" cy="146304"/>
          </a:xfrm>
          <a:prstGeom prst="rect">
            <a:avLst/>
          </a:prstGeom>
        </p:spPr>
      </p:pic>
      <p:sp>
        <p:nvSpPr>
          <p:cNvPr id="11" name="Shape 7"/>
          <p:cNvSpPr/>
          <p:nvPr/>
        </p:nvSpPr>
        <p:spPr>
          <a:xfrm>
            <a:off x="2770632" y="2148840"/>
            <a:ext cx="1965960" cy="1783080"/>
          </a:xfrm>
          <a:prstGeom prst="roundRect">
            <a:avLst>
              <a:gd name="adj" fmla="val 5128"/>
            </a:avLst>
          </a:prstGeom>
          <a:solidFill>
            <a:srgbClr val="FFFFFF"/>
          </a:solidFill>
          <a:ln w="19050">
            <a:solidFill>
              <a:srgbClr val="1B2A4A"/>
            </a:solidFill>
            <a:prstDash val="solid"/>
          </a:ln>
          <a:effectLst>
            <a:outerShdw blurRad="63500" dist="25400" dir="5400000" algn="bl" rotWithShape="0">
              <a:srgbClr val="000000">
                <a:alpha val="15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2" name="Shape 8"/>
          <p:cNvSpPr/>
          <p:nvPr/>
        </p:nvSpPr>
        <p:spPr>
          <a:xfrm>
            <a:off x="3470148" y="2322576"/>
            <a:ext cx="566928" cy="566928"/>
          </a:xfrm>
          <a:prstGeom prst="ellipse">
            <a:avLst/>
          </a:prstGeom>
          <a:solidFill>
            <a:srgbClr val="1B2A4A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13" name="Image 2" descr="/home/claude/deck/icon_validator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616452" y="2468880"/>
            <a:ext cx="274320" cy="274320"/>
          </a:xfrm>
          <a:prstGeom prst="rect">
            <a:avLst/>
          </a:prstGeom>
        </p:spPr>
      </p:pic>
      <p:sp>
        <p:nvSpPr>
          <p:cNvPr id="14" name="Text 9"/>
          <p:cNvSpPr txBox="1"/>
          <p:nvPr/>
        </p:nvSpPr>
        <p:spPr>
          <a:xfrm>
            <a:off x="2843784" y="2971800"/>
            <a:ext cx="1819656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5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Validator</a:t>
            </a:r>
            <a:endParaRPr lang="en-US" sz="1250" dirty="0"/>
          </a:p>
        </p:txBody>
      </p:sp>
      <p:sp>
        <p:nvSpPr>
          <p:cNvPr id="15" name="Text 10"/>
          <p:cNvSpPr txBox="1"/>
          <p:nvPr/>
        </p:nvSpPr>
        <p:spPr>
          <a:xfrm>
            <a:off x="2862072" y="3264408"/>
            <a:ext cx="178308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05000"/>
              </a:lnSpc>
              <a:buNone/>
            </a:pPr>
            <a:r>
              <a:rPr lang="en-US" sz="950" dirty="0">
                <a:solidFill>
                  <a:srgbClr val="5B6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Confirms the input is well-formed</a:t>
            </a:r>
            <a:endParaRPr lang="en-US" sz="950" dirty="0"/>
          </a:p>
        </p:txBody>
      </p:sp>
      <p:sp>
        <p:nvSpPr>
          <p:cNvPr id="16" name="Shape 11"/>
          <p:cNvSpPr/>
          <p:nvPr/>
        </p:nvSpPr>
        <p:spPr>
          <a:xfrm>
            <a:off x="4727448" y="2903220"/>
            <a:ext cx="274320" cy="274320"/>
          </a:xfrm>
          <a:prstGeom prst="ellipse">
            <a:avLst/>
          </a:prstGeom>
          <a:solidFill>
            <a:srgbClr val="D8E3F0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17" name="Image 3" descr="/home/claude/deck/icon_arrow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791456" y="2967228"/>
            <a:ext cx="146304" cy="146304"/>
          </a:xfrm>
          <a:prstGeom prst="rect">
            <a:avLst/>
          </a:prstGeom>
        </p:spPr>
      </p:pic>
      <p:sp>
        <p:nvSpPr>
          <p:cNvPr id="18" name="Shape 12"/>
          <p:cNvSpPr/>
          <p:nvPr/>
        </p:nvSpPr>
        <p:spPr>
          <a:xfrm>
            <a:off x="4992624" y="2148840"/>
            <a:ext cx="1965960" cy="1783080"/>
          </a:xfrm>
          <a:prstGeom prst="roundRect">
            <a:avLst>
              <a:gd name="adj" fmla="val 5128"/>
            </a:avLst>
          </a:prstGeom>
          <a:solidFill>
            <a:srgbClr val="FFFFFF"/>
          </a:solidFill>
          <a:ln w="19050">
            <a:solidFill>
              <a:srgbClr val="1B2A4A"/>
            </a:solidFill>
            <a:prstDash val="solid"/>
          </a:ln>
          <a:effectLst>
            <a:outerShdw blurRad="63500" dist="25400" dir="5400000" algn="bl" rotWithShape="0">
              <a:srgbClr val="000000">
                <a:alpha val="15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9" name="Shape 13"/>
          <p:cNvSpPr/>
          <p:nvPr/>
        </p:nvSpPr>
        <p:spPr>
          <a:xfrm>
            <a:off x="5692140" y="2322576"/>
            <a:ext cx="566928" cy="566928"/>
          </a:xfrm>
          <a:prstGeom prst="ellipse">
            <a:avLst/>
          </a:prstGeom>
          <a:solidFill>
            <a:srgbClr val="1B2A4A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20" name="Image 4" descr="/home/claude/deck/icon_service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838444" y="2468880"/>
            <a:ext cx="274320" cy="274320"/>
          </a:xfrm>
          <a:prstGeom prst="rect">
            <a:avLst/>
          </a:prstGeom>
        </p:spPr>
      </p:pic>
      <p:sp>
        <p:nvSpPr>
          <p:cNvPr id="21" name="Text 14"/>
          <p:cNvSpPr txBox="1"/>
          <p:nvPr/>
        </p:nvSpPr>
        <p:spPr>
          <a:xfrm>
            <a:off x="5065776" y="2971800"/>
            <a:ext cx="1819656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5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Service</a:t>
            </a:r>
            <a:endParaRPr lang="en-US" sz="1250" dirty="0"/>
          </a:p>
        </p:txBody>
      </p:sp>
      <p:sp>
        <p:nvSpPr>
          <p:cNvPr id="22" name="Text 15"/>
          <p:cNvSpPr txBox="1"/>
          <p:nvPr/>
        </p:nvSpPr>
        <p:spPr>
          <a:xfrm>
            <a:off x="5084064" y="3264408"/>
            <a:ext cx="178308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05000"/>
              </a:lnSpc>
              <a:buNone/>
            </a:pPr>
            <a:r>
              <a:rPr lang="en-US" sz="950" dirty="0">
                <a:solidFill>
                  <a:srgbClr val="5B6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Applies business rules, manages transactions</a:t>
            </a:r>
            <a:endParaRPr lang="en-US" sz="950" dirty="0"/>
          </a:p>
        </p:txBody>
      </p:sp>
      <p:sp>
        <p:nvSpPr>
          <p:cNvPr id="23" name="Shape 16"/>
          <p:cNvSpPr/>
          <p:nvPr/>
        </p:nvSpPr>
        <p:spPr>
          <a:xfrm>
            <a:off x="6949440" y="2903220"/>
            <a:ext cx="274320" cy="274320"/>
          </a:xfrm>
          <a:prstGeom prst="ellipse">
            <a:avLst/>
          </a:prstGeom>
          <a:solidFill>
            <a:srgbClr val="D8E3F0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24" name="Image 5" descr="/home/claude/deck/icon_arrow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013448" y="2967228"/>
            <a:ext cx="146304" cy="146304"/>
          </a:xfrm>
          <a:prstGeom prst="rect">
            <a:avLst/>
          </a:prstGeom>
        </p:spPr>
      </p:pic>
      <p:sp>
        <p:nvSpPr>
          <p:cNvPr id="25" name="Shape 17"/>
          <p:cNvSpPr/>
          <p:nvPr/>
        </p:nvSpPr>
        <p:spPr>
          <a:xfrm>
            <a:off x="7214616" y="2148840"/>
            <a:ext cx="1965960" cy="1783080"/>
          </a:xfrm>
          <a:prstGeom prst="roundRect">
            <a:avLst>
              <a:gd name="adj" fmla="val 5128"/>
            </a:avLst>
          </a:prstGeom>
          <a:solidFill>
            <a:srgbClr val="FFFFFF"/>
          </a:solidFill>
          <a:ln w="19050">
            <a:solidFill>
              <a:srgbClr val="3E5C76"/>
            </a:solidFill>
            <a:prstDash val="solid"/>
          </a:ln>
          <a:effectLst>
            <a:outerShdw blurRad="63500" dist="25400" dir="5400000" algn="bl" rotWithShape="0">
              <a:srgbClr val="000000">
                <a:alpha val="15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6" name="Shape 18"/>
          <p:cNvSpPr/>
          <p:nvPr/>
        </p:nvSpPr>
        <p:spPr>
          <a:xfrm>
            <a:off x="7914132" y="2322576"/>
            <a:ext cx="566928" cy="566928"/>
          </a:xfrm>
          <a:prstGeom prst="ellipse">
            <a:avLst/>
          </a:prstGeom>
          <a:solidFill>
            <a:srgbClr val="3E5C76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27" name="Image 6" descr="/home/claude/deck/icon_dao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8060436" y="2468880"/>
            <a:ext cx="274320" cy="274320"/>
          </a:xfrm>
          <a:prstGeom prst="rect">
            <a:avLst/>
          </a:prstGeom>
        </p:spPr>
      </p:pic>
      <p:sp>
        <p:nvSpPr>
          <p:cNvPr id="28" name="Text 19"/>
          <p:cNvSpPr txBox="1"/>
          <p:nvPr/>
        </p:nvSpPr>
        <p:spPr>
          <a:xfrm>
            <a:off x="7287768" y="2971800"/>
            <a:ext cx="1819656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5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Repository (DAO)</a:t>
            </a:r>
            <a:endParaRPr lang="en-US" sz="1250" dirty="0"/>
          </a:p>
        </p:txBody>
      </p:sp>
      <p:sp>
        <p:nvSpPr>
          <p:cNvPr id="29" name="Text 20"/>
          <p:cNvSpPr txBox="1"/>
          <p:nvPr/>
        </p:nvSpPr>
        <p:spPr>
          <a:xfrm>
            <a:off x="7306056" y="3264408"/>
            <a:ext cx="178308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05000"/>
              </a:lnSpc>
              <a:buNone/>
            </a:pPr>
            <a:r>
              <a:rPr lang="en-US" sz="950" dirty="0">
                <a:solidFill>
                  <a:srgbClr val="5B6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Reads and writes persistent storage</a:t>
            </a:r>
            <a:endParaRPr lang="en-US" sz="950" dirty="0"/>
          </a:p>
        </p:txBody>
      </p:sp>
      <p:sp>
        <p:nvSpPr>
          <p:cNvPr id="30" name="Shape 21"/>
          <p:cNvSpPr/>
          <p:nvPr/>
        </p:nvSpPr>
        <p:spPr>
          <a:xfrm>
            <a:off x="9171432" y="2903220"/>
            <a:ext cx="274320" cy="274320"/>
          </a:xfrm>
          <a:prstGeom prst="ellipse">
            <a:avLst/>
          </a:prstGeom>
          <a:solidFill>
            <a:srgbClr val="D8E3F0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31" name="Image 7" descr="/home/claude/deck/icon_arrow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235440" y="2967228"/>
            <a:ext cx="146304" cy="146304"/>
          </a:xfrm>
          <a:prstGeom prst="rect">
            <a:avLst/>
          </a:prstGeom>
        </p:spPr>
      </p:pic>
      <p:sp>
        <p:nvSpPr>
          <p:cNvPr id="32" name="Shape 22"/>
          <p:cNvSpPr/>
          <p:nvPr/>
        </p:nvSpPr>
        <p:spPr>
          <a:xfrm>
            <a:off x="9436608" y="2148840"/>
            <a:ext cx="1965960" cy="1783080"/>
          </a:xfrm>
          <a:prstGeom prst="roundRect">
            <a:avLst>
              <a:gd name="adj" fmla="val 5128"/>
            </a:avLst>
          </a:prstGeom>
          <a:solidFill>
            <a:srgbClr val="FFFFFF"/>
          </a:solidFill>
          <a:ln w="19050">
            <a:solidFill>
              <a:srgbClr val="E8A33D"/>
            </a:solidFill>
            <a:prstDash val="solid"/>
          </a:ln>
          <a:effectLst>
            <a:outerShdw blurRad="63500" dist="25400" dir="5400000" algn="bl" rotWithShape="0">
              <a:srgbClr val="000000">
                <a:alpha val="15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33" name="Shape 23"/>
          <p:cNvSpPr/>
          <p:nvPr/>
        </p:nvSpPr>
        <p:spPr>
          <a:xfrm>
            <a:off x="10136124" y="2322576"/>
            <a:ext cx="566928" cy="566928"/>
          </a:xfrm>
          <a:prstGeom prst="ellipse">
            <a:avLst/>
          </a:prstGeom>
          <a:solidFill>
            <a:srgbClr val="E8A33D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34" name="Image 8" descr="/home/claude/deck/icon_domain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10282428" y="2468880"/>
            <a:ext cx="274320" cy="274320"/>
          </a:xfrm>
          <a:prstGeom prst="rect">
            <a:avLst/>
          </a:prstGeom>
        </p:spPr>
      </p:pic>
      <p:sp>
        <p:nvSpPr>
          <p:cNvPr id="35" name="Text 24"/>
          <p:cNvSpPr txBox="1"/>
          <p:nvPr/>
        </p:nvSpPr>
        <p:spPr>
          <a:xfrm>
            <a:off x="9509760" y="2971800"/>
            <a:ext cx="1819656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5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Domain Object</a:t>
            </a:r>
            <a:endParaRPr lang="en-US" sz="1250" dirty="0"/>
          </a:p>
        </p:txBody>
      </p:sp>
      <p:sp>
        <p:nvSpPr>
          <p:cNvPr id="36" name="Text 25"/>
          <p:cNvSpPr txBox="1"/>
          <p:nvPr/>
        </p:nvSpPr>
        <p:spPr>
          <a:xfrm>
            <a:off x="9528048" y="3264408"/>
            <a:ext cx="178308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05000"/>
              </a:lnSpc>
              <a:buNone/>
            </a:pPr>
            <a:r>
              <a:rPr lang="en-US" sz="950" dirty="0">
                <a:solidFill>
                  <a:srgbClr val="5B6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Carries state and behavior throughout</a:t>
            </a:r>
            <a:endParaRPr lang="en-US" sz="950" dirty="0"/>
          </a:p>
        </p:txBody>
      </p:sp>
      <p:sp>
        <p:nvSpPr>
          <p:cNvPr id="37" name="Text 26"/>
          <p:cNvSpPr txBox="1"/>
          <p:nvPr/>
        </p:nvSpPr>
        <p:spPr>
          <a:xfrm>
            <a:off x="548640" y="4160520"/>
            <a:ext cx="110642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i="1" dirty="0">
                <a:solidFill>
                  <a:srgbClr val="5B6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domain object is the one thing every layer touches — it moves from repository, through service, to controller, carrying the same shape the whole way.</a:t>
            </a:r>
            <a:endParaRPr lang="en-US" sz="1300" dirty="0"/>
          </a:p>
        </p:txBody>
      </p:sp>
      <p:sp>
        <p:nvSpPr>
          <p:cNvPr id="38" name="Shape 27"/>
          <p:cNvSpPr/>
          <p:nvPr/>
        </p:nvSpPr>
        <p:spPr>
          <a:xfrm>
            <a:off x="548640" y="4846320"/>
            <a:ext cx="11064240" cy="1234440"/>
          </a:xfrm>
          <a:prstGeom prst="roundRect">
            <a:avLst>
              <a:gd name="adj" fmla="val 5926"/>
            </a:avLst>
          </a:prstGeom>
          <a:solidFill>
            <a:srgbClr val="D8E3F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9" name="Text 28"/>
          <p:cNvSpPr txBox="1"/>
          <p:nvPr/>
        </p:nvSpPr>
        <p:spPr>
          <a:xfrm>
            <a:off x="822960" y="4846320"/>
            <a:ext cx="10515600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4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golden rule:  </a:t>
            </a:r>
            <a:r>
              <a:rPr lang="en-US" sz="1400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each layer only calls the layer directly below it. A controller never touches a repository, and a repository never calls a service.</a:t>
            </a:r>
            <a:endParaRPr lang="en-US" sz="1400" dirty="0"/>
          </a:p>
        </p:txBody>
      </p:sp>
      <p:sp>
        <p:nvSpPr>
          <p:cNvPr id="40" name="Text 29"/>
          <p:cNvSpPr txBox="1"/>
          <p:nvPr/>
        </p:nvSpPr>
        <p:spPr>
          <a:xfrm>
            <a:off x="11475720" y="647395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5B6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0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BFB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84048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E8A3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STEREOTYPE 1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58368"/>
            <a:ext cx="110642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B2A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Domain Objects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662940" y="1348740"/>
            <a:ext cx="685800" cy="685800"/>
          </a:xfrm>
          <a:prstGeom prst="ellipse">
            <a:avLst/>
          </a:prstGeom>
          <a:solidFill>
            <a:srgbClr val="E8A33D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5" name="Image 0" descr="/home/claude/deck/icon_domain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27532" y="1513332"/>
            <a:ext cx="356616" cy="356616"/>
          </a:xfrm>
          <a:prstGeom prst="rect">
            <a:avLst/>
          </a:prstGeom>
        </p:spPr>
      </p:pic>
      <p:sp>
        <p:nvSpPr>
          <p:cNvPr id="6" name="Text 3"/>
          <p:cNvSpPr txBox="1"/>
          <p:nvPr/>
        </p:nvSpPr>
        <p:spPr>
          <a:xfrm>
            <a:off x="1554480" y="1371600"/>
            <a:ext cx="99669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500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domain object represents a real concept in the business — an Order, a Customer, an Invoice. It holds state and the behavior that belongs to that state.</a:t>
            </a:r>
            <a:endParaRPr lang="en-US" sz="1500" dirty="0"/>
          </a:p>
        </p:txBody>
      </p:sp>
      <p:sp>
        <p:nvSpPr>
          <p:cNvPr id="7" name="Shape 4"/>
          <p:cNvSpPr/>
          <p:nvPr/>
        </p:nvSpPr>
        <p:spPr>
          <a:xfrm>
            <a:off x="548640" y="2331720"/>
            <a:ext cx="109728" cy="777240"/>
          </a:xfrm>
          <a:prstGeom prst="roundRect">
            <a:avLst/>
          </a:prstGeom>
          <a:solidFill>
            <a:srgbClr val="E8A33D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8" name="Text 5"/>
          <p:cNvSpPr txBox="1"/>
          <p:nvPr/>
        </p:nvSpPr>
        <p:spPr>
          <a:xfrm>
            <a:off x="822960" y="2304288"/>
            <a:ext cx="5212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Named after the business, not the table</a:t>
            </a:r>
            <a:endParaRPr lang="en-US" sz="1400" dirty="0"/>
          </a:p>
        </p:txBody>
      </p:sp>
      <p:sp>
        <p:nvSpPr>
          <p:cNvPr id="9" name="Text 6"/>
          <p:cNvSpPr txBox="1"/>
          <p:nvPr/>
        </p:nvSpPr>
        <p:spPr>
          <a:xfrm>
            <a:off x="822960" y="2651760"/>
            <a:ext cx="5212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0000"/>
              </a:lnSpc>
              <a:buNone/>
            </a:pPr>
            <a:r>
              <a:rPr lang="en-US" sz="1200" dirty="0">
                <a:solidFill>
                  <a:srgbClr val="5B6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"Customer", not "CustomerRow" or "CustomerEntity"</a:t>
            </a:r>
            <a:endParaRPr lang="en-US" sz="1200" dirty="0"/>
          </a:p>
        </p:txBody>
      </p:sp>
      <p:sp>
        <p:nvSpPr>
          <p:cNvPr id="10" name="Shape 7"/>
          <p:cNvSpPr/>
          <p:nvPr/>
        </p:nvSpPr>
        <p:spPr>
          <a:xfrm>
            <a:off x="548640" y="3246120"/>
            <a:ext cx="109728" cy="777240"/>
          </a:xfrm>
          <a:prstGeom prst="roundRect">
            <a:avLst/>
          </a:prstGeom>
          <a:solidFill>
            <a:srgbClr val="E8A33D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1" name="Text 8"/>
          <p:cNvSpPr txBox="1"/>
          <p:nvPr/>
        </p:nvSpPr>
        <p:spPr>
          <a:xfrm>
            <a:off x="822960" y="3218688"/>
            <a:ext cx="5212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Owns its invariants</a:t>
            </a:r>
            <a:endParaRPr lang="en-US" sz="1400" dirty="0"/>
          </a:p>
        </p:txBody>
      </p:sp>
      <p:sp>
        <p:nvSpPr>
          <p:cNvPr id="12" name="Text 9"/>
          <p:cNvSpPr txBox="1"/>
          <p:nvPr/>
        </p:nvSpPr>
        <p:spPr>
          <a:xfrm>
            <a:off x="822960" y="3566160"/>
            <a:ext cx="5212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0000"/>
              </a:lnSpc>
              <a:buNone/>
            </a:pPr>
            <a:r>
              <a:rPr lang="en-US" sz="1200" dirty="0">
                <a:solidFill>
                  <a:srgbClr val="5B6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 Order should not let itself hold a negative total</a:t>
            </a:r>
            <a:endParaRPr lang="en-US" sz="1200" dirty="0"/>
          </a:p>
        </p:txBody>
      </p:sp>
      <p:sp>
        <p:nvSpPr>
          <p:cNvPr id="13" name="Shape 10"/>
          <p:cNvSpPr/>
          <p:nvPr/>
        </p:nvSpPr>
        <p:spPr>
          <a:xfrm>
            <a:off x="548640" y="4160520"/>
            <a:ext cx="109728" cy="777240"/>
          </a:xfrm>
          <a:prstGeom prst="roundRect">
            <a:avLst/>
          </a:prstGeom>
          <a:solidFill>
            <a:srgbClr val="E8A33D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4" name="Text 11"/>
          <p:cNvSpPr txBox="1"/>
          <p:nvPr/>
        </p:nvSpPr>
        <p:spPr>
          <a:xfrm>
            <a:off x="822960" y="4133088"/>
            <a:ext cx="5212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Free of framework and persistence concerns</a:t>
            </a:r>
            <a:endParaRPr lang="en-US" sz="1400" dirty="0"/>
          </a:p>
        </p:txBody>
      </p:sp>
      <p:sp>
        <p:nvSpPr>
          <p:cNvPr id="15" name="Text 12"/>
          <p:cNvSpPr txBox="1"/>
          <p:nvPr/>
        </p:nvSpPr>
        <p:spPr>
          <a:xfrm>
            <a:off x="822960" y="4480560"/>
            <a:ext cx="5212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0000"/>
              </a:lnSpc>
              <a:buNone/>
            </a:pPr>
            <a:r>
              <a:rPr lang="en-US" sz="1200" dirty="0">
                <a:solidFill>
                  <a:srgbClr val="5B6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HTTP, no SQL, no JSON annotations bleeding through</a:t>
            </a:r>
            <a:endParaRPr lang="en-US" sz="1200" dirty="0"/>
          </a:p>
        </p:txBody>
      </p:sp>
      <p:sp>
        <p:nvSpPr>
          <p:cNvPr id="16" name="Shape 13"/>
          <p:cNvSpPr/>
          <p:nvPr/>
        </p:nvSpPr>
        <p:spPr>
          <a:xfrm>
            <a:off x="548640" y="5074920"/>
            <a:ext cx="109728" cy="777240"/>
          </a:xfrm>
          <a:prstGeom prst="roundRect">
            <a:avLst/>
          </a:prstGeom>
          <a:solidFill>
            <a:srgbClr val="E8A33D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7" name="Text 14"/>
          <p:cNvSpPr txBox="1"/>
          <p:nvPr/>
        </p:nvSpPr>
        <p:spPr>
          <a:xfrm>
            <a:off x="822960" y="5047488"/>
            <a:ext cx="5212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Small and focused</a:t>
            </a:r>
            <a:endParaRPr lang="en-US" sz="1400" dirty="0"/>
          </a:p>
        </p:txBody>
      </p:sp>
      <p:sp>
        <p:nvSpPr>
          <p:cNvPr id="18" name="Text 15"/>
          <p:cNvSpPr txBox="1"/>
          <p:nvPr/>
        </p:nvSpPr>
        <p:spPr>
          <a:xfrm>
            <a:off x="822960" y="5394960"/>
            <a:ext cx="5212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0000"/>
              </a:lnSpc>
              <a:buNone/>
            </a:pPr>
            <a:r>
              <a:rPr lang="en-US" sz="1200" dirty="0">
                <a:solidFill>
                  <a:srgbClr val="5B6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concept per class — resist the urge to grow a God object</a:t>
            </a:r>
            <a:endParaRPr lang="en-US" sz="1200" dirty="0"/>
          </a:p>
        </p:txBody>
      </p:sp>
      <p:sp>
        <p:nvSpPr>
          <p:cNvPr id="19" name="Shape 16"/>
          <p:cNvSpPr/>
          <p:nvPr/>
        </p:nvSpPr>
        <p:spPr>
          <a:xfrm>
            <a:off x="6446520" y="2331720"/>
            <a:ext cx="5166360" cy="3611880"/>
          </a:xfrm>
          <a:prstGeom prst="roundRect">
            <a:avLst>
              <a:gd name="adj" fmla="val 2532"/>
            </a:avLst>
          </a:prstGeom>
          <a:solidFill>
            <a:srgbClr val="1B2A4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0" name="Text 17"/>
          <p:cNvSpPr txBox="1"/>
          <p:nvPr/>
        </p:nvSpPr>
        <p:spPr>
          <a:xfrm>
            <a:off x="6766560" y="2560320"/>
            <a:ext cx="4572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E8A3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Common confusion</a:t>
            </a:r>
            <a:endParaRPr lang="en-US" sz="1500" dirty="0"/>
          </a:p>
        </p:txBody>
      </p:sp>
      <p:sp>
        <p:nvSpPr>
          <p:cNvPr id="21" name="Text 18"/>
          <p:cNvSpPr txBox="1"/>
          <p:nvPr/>
        </p:nvSpPr>
        <p:spPr>
          <a:xfrm>
            <a:off x="6766560" y="2971800"/>
            <a:ext cx="457200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5000"/>
              </a:lnSpc>
              <a:buNone/>
            </a:pPr>
            <a:r>
              <a:rPr lang="en-US" sz="1300" dirty="0">
                <a:solidFill>
                  <a:srgbClr val="D8E3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JPA @Entity is a persistence mapping, not automatically a well-formed domain object. It's fine for many apps to let the entity BE the domain object — but keep it disciplined: no getters that leak mutable collections, no setters that skip validation, and no controller code reaching into it directly.</a:t>
            </a:r>
            <a:endParaRPr lang="en-US" sz="1300" dirty="0"/>
          </a:p>
        </p:txBody>
      </p:sp>
      <p:sp>
        <p:nvSpPr>
          <p:cNvPr id="22" name="Text 19"/>
          <p:cNvSpPr txBox="1"/>
          <p:nvPr/>
        </p:nvSpPr>
        <p:spPr>
          <a:xfrm>
            <a:off x="6766560" y="4892040"/>
            <a:ext cx="45720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200" i="1" dirty="0">
                <a:solidFill>
                  <a:srgbClr val="D8E3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Rule of thumb: if a class needs both @Entity and business rule methods, that's fine — just don't let it also parse JSON or format HTTP responses.</a:t>
            </a:r>
            <a:endParaRPr lang="en-US" sz="1200" dirty="0"/>
          </a:p>
        </p:txBody>
      </p:sp>
      <p:sp>
        <p:nvSpPr>
          <p:cNvPr id="23" name="Text 20"/>
          <p:cNvSpPr txBox="1"/>
          <p:nvPr/>
        </p:nvSpPr>
        <p:spPr>
          <a:xfrm>
            <a:off x="11475720" y="647395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5B6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0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BFB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84048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E8A3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STEREOTYPE 1 · CODE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58368"/>
            <a:ext cx="110642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B2A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Domain Object — Order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1371600"/>
            <a:ext cx="11064240" cy="4709160"/>
          </a:xfrm>
          <a:prstGeom prst="roundRect">
            <a:avLst>
              <a:gd name="adj" fmla="val 1553"/>
            </a:avLst>
          </a:prstGeom>
          <a:solidFill>
            <a:srgbClr val="1E1E2E"/>
          </a:solidFill>
          <a:ln w="12700">
            <a:solidFill>
              <a:srgbClr val="1E1E2E"/>
            </a:solidFill>
            <a:prstDash val="solid"/>
          </a:ln>
          <a:effectLst>
            <a:outerShdw blurRad="76200" dist="25400" dir="5400000" algn="bl" rotWithShape="0">
              <a:srgbClr val="000000">
                <a:alpha val="25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 txBox="1"/>
          <p:nvPr/>
        </p:nvSpPr>
        <p:spPr>
          <a:xfrm>
            <a:off x="777240" y="1536192"/>
            <a:ext cx="10607040" cy="437997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12000"/>
              </a:lnSpc>
              <a:buNone/>
            </a:pPr>
            <a:r>
              <a:rPr lang="en-US" sz="1050" dirty="0">
                <a:solidFill>
                  <a:srgbClr val="E8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@Entity</a:t>
            </a:r>
            <a:endParaRPr lang="en-US" sz="1050" dirty="0"/>
          </a:p>
          <a:p>
            <a:pPr marL="0" indent="0">
              <a:lnSpc>
                <a:spcPct val="112000"/>
              </a:lnSpc>
              <a:buNone/>
            </a:pPr>
            <a:r>
              <a:rPr lang="en-US" sz="1050" dirty="0">
                <a:solidFill>
                  <a:srgbClr val="E8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@Table(name = "orders")</a:t>
            </a:r>
            <a:endParaRPr lang="en-US" sz="1050" dirty="0"/>
          </a:p>
          <a:p>
            <a:pPr marL="0" indent="0">
              <a:lnSpc>
                <a:spcPct val="112000"/>
              </a:lnSpc>
              <a:buNone/>
            </a:pPr>
            <a:r>
              <a:rPr lang="en-US" sz="1050" dirty="0">
                <a:solidFill>
                  <a:srgbClr val="E8A33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public class </a:t>
            </a:r>
            <a:r>
              <a:rPr lang="en-US" sz="1050" dirty="0">
                <a:solidFill>
                  <a:srgbClr val="E8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Order {</a:t>
            </a:r>
            <a:endParaRPr lang="en-US" sz="1050" dirty="0"/>
          </a:p>
          <a:p>
            <a:pPr marL="0" indent="0">
              <a:lnSpc>
                <a:spcPct val="112000"/>
              </a:lnSpc>
              <a:buNone/>
            </a:pPr>
            <a:endParaRPr lang="en-US" sz="1050" dirty="0"/>
          </a:p>
          <a:p>
            <a:pPr marL="0" indent="0">
              <a:lnSpc>
                <a:spcPct val="112000"/>
              </a:lnSpc>
              <a:buNone/>
            </a:pPr>
            <a:r>
              <a:rPr lang="en-US" sz="1050" dirty="0">
                <a:solidFill>
                  <a:srgbClr val="E8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@Id @GeneratedValue</a:t>
            </a:r>
            <a:endParaRPr lang="en-US" sz="1050" dirty="0"/>
          </a:p>
          <a:p>
            <a:pPr marL="0" indent="0">
              <a:lnSpc>
                <a:spcPct val="112000"/>
              </a:lnSpc>
              <a:buNone/>
            </a:pPr>
            <a:r>
              <a:rPr lang="en-US" sz="1050" dirty="0">
                <a:solidFill>
                  <a:srgbClr val="E8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private Long id;</a:t>
            </a:r>
            <a:endParaRPr lang="en-US" sz="1050" dirty="0"/>
          </a:p>
          <a:p>
            <a:pPr marL="0" indent="0">
              <a:lnSpc>
                <a:spcPct val="112000"/>
              </a:lnSpc>
              <a:buNone/>
            </a:pPr>
            <a:endParaRPr lang="en-US" sz="1050" dirty="0"/>
          </a:p>
          <a:p>
            <a:pPr marL="0" indent="0">
              <a:lnSpc>
                <a:spcPct val="112000"/>
              </a:lnSpc>
              <a:buNone/>
            </a:pPr>
            <a:r>
              <a:rPr lang="en-US" sz="1050" dirty="0">
                <a:solidFill>
                  <a:srgbClr val="E8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private CustomerId customerId;</a:t>
            </a:r>
            <a:endParaRPr lang="en-US" sz="1050" dirty="0"/>
          </a:p>
          <a:p>
            <a:pPr marL="0" indent="0">
              <a:lnSpc>
                <a:spcPct val="112000"/>
              </a:lnSpc>
              <a:buNone/>
            </a:pPr>
            <a:r>
              <a:rPr lang="en-US" sz="1050" dirty="0">
                <a:solidFill>
                  <a:srgbClr val="E8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private List&lt;OrderLine&gt; lines = new ArrayList&lt;&gt;();</a:t>
            </a:r>
            <a:endParaRPr lang="en-US" sz="1050" dirty="0"/>
          </a:p>
          <a:p>
            <a:pPr marL="0" indent="0">
              <a:lnSpc>
                <a:spcPct val="112000"/>
              </a:lnSpc>
              <a:buNone/>
            </a:pPr>
            <a:r>
              <a:rPr lang="en-US" sz="1050" dirty="0">
                <a:solidFill>
                  <a:srgbClr val="E8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private OrderStatus status = OrderStatus.DRAFT;</a:t>
            </a:r>
            <a:endParaRPr lang="en-US" sz="1050" dirty="0"/>
          </a:p>
          <a:p>
            <a:pPr marL="0" indent="0">
              <a:lnSpc>
                <a:spcPct val="112000"/>
              </a:lnSpc>
              <a:buNone/>
            </a:pPr>
            <a:endParaRPr lang="en-US" sz="1050" dirty="0"/>
          </a:p>
          <a:p>
            <a:pPr marL="0" indent="0">
              <a:lnSpc>
                <a:spcPct val="112000"/>
              </a:lnSpc>
              <a:buNone/>
            </a:pPr>
            <a:r>
              <a:rPr lang="en-US" sz="1050" dirty="0">
                <a:solidFill>
                  <a:srgbClr val="7A7A8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// behavior lives with the state it protects</a:t>
            </a:r>
            <a:endParaRPr lang="en-US" sz="1050" dirty="0"/>
          </a:p>
          <a:p>
            <a:pPr marL="0" indent="0">
              <a:lnSpc>
                <a:spcPct val="112000"/>
              </a:lnSpc>
              <a:buNone/>
            </a:pPr>
            <a:r>
              <a:rPr lang="en-US" sz="1050" dirty="0">
                <a:solidFill>
                  <a:srgbClr val="E8A33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public void </a:t>
            </a:r>
            <a:r>
              <a:rPr lang="en-US" sz="1050" dirty="0">
                <a:solidFill>
                  <a:srgbClr val="E8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addLine(OrderLine line) {</a:t>
            </a:r>
            <a:endParaRPr lang="en-US" sz="1050" dirty="0"/>
          </a:p>
          <a:p>
            <a:pPr marL="0" indent="0">
              <a:lnSpc>
                <a:spcPct val="112000"/>
              </a:lnSpc>
              <a:buNone/>
            </a:pPr>
            <a:r>
              <a:rPr lang="en-US" sz="1050" dirty="0">
                <a:solidFill>
                  <a:srgbClr val="E8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if (status != OrderStatus.DRAFT) {</a:t>
            </a:r>
            <a:endParaRPr lang="en-US" sz="1050" dirty="0"/>
          </a:p>
          <a:p>
            <a:pPr marL="0" indent="0">
              <a:lnSpc>
                <a:spcPct val="112000"/>
              </a:lnSpc>
              <a:buNone/>
            </a:pPr>
            <a:r>
              <a:rPr lang="en-US" sz="1050" dirty="0">
                <a:solidFill>
                  <a:srgbClr val="E8A33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   throw new </a:t>
            </a:r>
            <a:r>
              <a:rPr lang="en-US" sz="1050" dirty="0">
                <a:solidFill>
                  <a:srgbClr val="E8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IllegalStateException(</a:t>
            </a:r>
            <a:r>
              <a:rPr lang="en-US" sz="1050" dirty="0">
                <a:solidFill>
                  <a:srgbClr val="9CCFD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"Cannot modify a submitted order"</a:t>
            </a:r>
            <a:r>
              <a:rPr lang="en-US" sz="1050" dirty="0">
                <a:solidFill>
                  <a:srgbClr val="E8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);</a:t>
            </a:r>
            <a:endParaRPr lang="en-US" sz="1050" dirty="0"/>
          </a:p>
          <a:p>
            <a:pPr marL="0" indent="0">
              <a:lnSpc>
                <a:spcPct val="112000"/>
              </a:lnSpc>
              <a:buNone/>
            </a:pPr>
            <a:r>
              <a:rPr lang="en-US" sz="1050" dirty="0">
                <a:solidFill>
                  <a:srgbClr val="E8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}</a:t>
            </a:r>
            <a:endParaRPr lang="en-US" sz="1050" dirty="0"/>
          </a:p>
          <a:p>
            <a:pPr marL="0" indent="0">
              <a:lnSpc>
                <a:spcPct val="112000"/>
              </a:lnSpc>
              <a:buNone/>
            </a:pPr>
            <a:r>
              <a:rPr lang="en-US" sz="1050" dirty="0">
                <a:solidFill>
                  <a:srgbClr val="E8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lines.add(line);</a:t>
            </a:r>
            <a:endParaRPr lang="en-US" sz="1050" dirty="0"/>
          </a:p>
          <a:p>
            <a:pPr marL="0" indent="0">
              <a:lnSpc>
                <a:spcPct val="112000"/>
              </a:lnSpc>
              <a:buNone/>
            </a:pPr>
            <a:r>
              <a:rPr lang="en-US" sz="1050" dirty="0">
                <a:solidFill>
                  <a:srgbClr val="E8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}</a:t>
            </a:r>
            <a:endParaRPr lang="en-US" sz="1050" dirty="0"/>
          </a:p>
          <a:p>
            <a:pPr marL="0" indent="0">
              <a:lnSpc>
                <a:spcPct val="112000"/>
              </a:lnSpc>
              <a:buNone/>
            </a:pPr>
            <a:endParaRPr lang="en-US" sz="1050" dirty="0"/>
          </a:p>
          <a:p>
            <a:pPr marL="0" indent="0">
              <a:lnSpc>
                <a:spcPct val="112000"/>
              </a:lnSpc>
              <a:buNone/>
            </a:pPr>
            <a:r>
              <a:rPr lang="en-US" sz="1050" dirty="0">
                <a:solidFill>
                  <a:srgbClr val="E8A33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public BigDecimal </a:t>
            </a:r>
            <a:r>
              <a:rPr lang="en-US" sz="1050" dirty="0">
                <a:solidFill>
                  <a:srgbClr val="E8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total() {</a:t>
            </a:r>
            <a:endParaRPr lang="en-US" sz="1050" dirty="0"/>
          </a:p>
          <a:p>
            <a:pPr marL="0" indent="0">
              <a:lnSpc>
                <a:spcPct val="112000"/>
              </a:lnSpc>
              <a:buNone/>
            </a:pPr>
            <a:r>
              <a:rPr lang="en-US" sz="1050" dirty="0">
                <a:solidFill>
                  <a:srgbClr val="E8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return lines.stream().map(OrderLine::subtotal)</a:t>
            </a:r>
            <a:endParaRPr lang="en-US" sz="1050" dirty="0"/>
          </a:p>
          <a:p>
            <a:pPr marL="0" indent="0">
              <a:lnSpc>
                <a:spcPct val="112000"/>
              </a:lnSpc>
              <a:buNone/>
            </a:pPr>
            <a:r>
              <a:rPr lang="en-US" sz="1050" dirty="0">
                <a:solidFill>
                  <a:srgbClr val="E8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           .reduce(BigDecimal.ZERO, BigDecimal::add);</a:t>
            </a:r>
            <a:endParaRPr lang="en-US" sz="1050" dirty="0"/>
          </a:p>
          <a:p>
            <a:pPr marL="0" indent="0">
              <a:lnSpc>
                <a:spcPct val="112000"/>
              </a:lnSpc>
              <a:buNone/>
            </a:pPr>
            <a:r>
              <a:rPr lang="en-US" sz="1050" dirty="0">
                <a:solidFill>
                  <a:srgbClr val="E8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}</a:t>
            </a:r>
            <a:endParaRPr lang="en-US" sz="1050" dirty="0"/>
          </a:p>
          <a:p>
            <a:pPr marL="0" indent="0">
              <a:lnSpc>
                <a:spcPct val="112000"/>
              </a:lnSpc>
              <a:buNone/>
            </a:pPr>
            <a:r>
              <a:rPr lang="en-US" sz="1050" dirty="0">
                <a:solidFill>
                  <a:srgbClr val="E8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}</a:t>
            </a:r>
            <a:endParaRPr lang="en-US" sz="1050" dirty="0"/>
          </a:p>
        </p:txBody>
      </p:sp>
      <p:sp>
        <p:nvSpPr>
          <p:cNvPr id="6" name="Text 4"/>
          <p:cNvSpPr txBox="1"/>
          <p:nvPr/>
        </p:nvSpPr>
        <p:spPr>
          <a:xfrm>
            <a:off x="548640" y="6199632"/>
            <a:ext cx="11064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i="1" dirty="0">
                <a:solidFill>
                  <a:srgbClr val="5B6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Notice: the class enforces its own rule (no edits after submission) instead of trusting every caller to remember.</a:t>
            </a:r>
            <a:endParaRPr lang="en-US" sz="1150" dirty="0"/>
          </a:p>
        </p:txBody>
      </p:sp>
      <p:sp>
        <p:nvSpPr>
          <p:cNvPr id="7" name="Text 5"/>
          <p:cNvSpPr txBox="1"/>
          <p:nvPr/>
        </p:nvSpPr>
        <p:spPr>
          <a:xfrm>
            <a:off x="11475720" y="647395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5B6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10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BFB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84048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E8A3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STEREOTYPE 1 · DISTINCTION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58368"/>
            <a:ext cx="110642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B2A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Domain objects are not DTOs</a:t>
            </a:r>
            <a:endParaRPr lang="en-US" sz="30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1508760"/>
            <a:ext cx="11064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400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DTO (Data Transfer Object) shapes data for the wire — a request or response body. A domain object shapes data for the business rules. Conflating the two is one of the most common early mistakes.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548640" y="2331720"/>
            <a:ext cx="5257800" cy="3657600"/>
          </a:xfrm>
          <a:prstGeom prst="roundRect">
            <a:avLst>
              <a:gd name="adj" fmla="val 2500"/>
            </a:avLst>
          </a:prstGeom>
          <a:solidFill>
            <a:srgbClr val="FFFFFF"/>
          </a:solidFill>
          <a:ln w="12700">
            <a:solidFill>
              <a:srgbClr val="D8E3F0"/>
            </a:solidFill>
            <a:prstDash val="solid"/>
          </a:ln>
          <a:effectLst>
            <a:outerShdw blurRad="76200" dist="25400" dir="54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6" name="Shape 4"/>
          <p:cNvSpPr/>
          <p:nvPr/>
        </p:nvSpPr>
        <p:spPr>
          <a:xfrm>
            <a:off x="937260" y="2583180"/>
            <a:ext cx="594360" cy="594360"/>
          </a:xfrm>
          <a:prstGeom prst="ellipse">
            <a:avLst/>
          </a:prstGeom>
          <a:solidFill>
            <a:srgbClr val="E8A33D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7" name="Image 0" descr="/home/claude/deck/icon_domain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83564" y="2729484"/>
            <a:ext cx="301752" cy="301752"/>
          </a:xfrm>
          <a:prstGeom prst="rect">
            <a:avLst/>
          </a:prstGeom>
        </p:spPr>
      </p:pic>
      <p:sp>
        <p:nvSpPr>
          <p:cNvPr id="8" name="Text 5"/>
          <p:cNvSpPr txBox="1"/>
          <p:nvPr/>
        </p:nvSpPr>
        <p:spPr>
          <a:xfrm>
            <a:off x="1691640" y="2606040"/>
            <a:ext cx="3657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1B2A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Domain Object</a:t>
            </a:r>
            <a:endParaRPr lang="en-US" sz="1800" dirty="0"/>
          </a:p>
        </p:txBody>
      </p:sp>
      <p:sp>
        <p:nvSpPr>
          <p:cNvPr id="9" name="Shape 6"/>
          <p:cNvSpPr/>
          <p:nvPr/>
        </p:nvSpPr>
        <p:spPr>
          <a:xfrm>
            <a:off x="914400" y="3502152"/>
            <a:ext cx="82296" cy="82296"/>
          </a:xfrm>
          <a:prstGeom prst="ellipse">
            <a:avLst/>
          </a:prstGeom>
          <a:solidFill>
            <a:srgbClr val="E8A33D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0" name="Text 7"/>
          <p:cNvSpPr txBox="1"/>
          <p:nvPr/>
        </p:nvSpPr>
        <p:spPr>
          <a:xfrm>
            <a:off x="1143000" y="3337560"/>
            <a:ext cx="44805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0000"/>
              </a:lnSpc>
              <a:buNone/>
            </a:pPr>
            <a:r>
              <a:rPr lang="en-US" sz="1300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Lives in the service &amp; repository layers</a:t>
            </a:r>
            <a:endParaRPr lang="en-US" sz="1300" dirty="0"/>
          </a:p>
        </p:txBody>
      </p:sp>
      <p:sp>
        <p:nvSpPr>
          <p:cNvPr id="11" name="Shape 8"/>
          <p:cNvSpPr/>
          <p:nvPr/>
        </p:nvSpPr>
        <p:spPr>
          <a:xfrm>
            <a:off x="914400" y="4069080"/>
            <a:ext cx="82296" cy="82296"/>
          </a:xfrm>
          <a:prstGeom prst="ellipse">
            <a:avLst/>
          </a:prstGeom>
          <a:solidFill>
            <a:srgbClr val="E8A33D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2" name="Text 9"/>
          <p:cNvSpPr txBox="1"/>
          <p:nvPr/>
        </p:nvSpPr>
        <p:spPr>
          <a:xfrm>
            <a:off x="1143000" y="3904488"/>
            <a:ext cx="44805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0000"/>
              </a:lnSpc>
              <a:buNone/>
            </a:pPr>
            <a:r>
              <a:rPr lang="en-US" sz="1300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Enforces business invariants</a:t>
            </a:r>
            <a:endParaRPr lang="en-US" sz="1300" dirty="0"/>
          </a:p>
        </p:txBody>
      </p:sp>
      <p:sp>
        <p:nvSpPr>
          <p:cNvPr id="13" name="Shape 10"/>
          <p:cNvSpPr/>
          <p:nvPr/>
        </p:nvSpPr>
        <p:spPr>
          <a:xfrm>
            <a:off x="914400" y="4636008"/>
            <a:ext cx="82296" cy="82296"/>
          </a:xfrm>
          <a:prstGeom prst="ellipse">
            <a:avLst/>
          </a:prstGeom>
          <a:solidFill>
            <a:srgbClr val="E8A33D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4" name="Text 11"/>
          <p:cNvSpPr txBox="1"/>
          <p:nvPr/>
        </p:nvSpPr>
        <p:spPr>
          <a:xfrm>
            <a:off x="1143000" y="4471416"/>
            <a:ext cx="44805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0000"/>
              </a:lnSpc>
              <a:buNone/>
            </a:pPr>
            <a:r>
              <a:rPr lang="en-US" sz="1300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Shaped by the business concept</a:t>
            </a:r>
            <a:endParaRPr lang="en-US" sz="1300" dirty="0"/>
          </a:p>
        </p:txBody>
      </p:sp>
      <p:sp>
        <p:nvSpPr>
          <p:cNvPr id="15" name="Shape 12"/>
          <p:cNvSpPr/>
          <p:nvPr/>
        </p:nvSpPr>
        <p:spPr>
          <a:xfrm>
            <a:off x="914400" y="5202936"/>
            <a:ext cx="82296" cy="82296"/>
          </a:xfrm>
          <a:prstGeom prst="ellipse">
            <a:avLst/>
          </a:prstGeom>
          <a:solidFill>
            <a:srgbClr val="E8A33D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6" name="Text 13"/>
          <p:cNvSpPr txBox="1"/>
          <p:nvPr/>
        </p:nvSpPr>
        <p:spPr>
          <a:xfrm>
            <a:off x="1143000" y="5038344"/>
            <a:ext cx="44805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0000"/>
              </a:lnSpc>
              <a:buNone/>
            </a:pPr>
            <a:r>
              <a:rPr lang="en-US" sz="1300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Long-lived, reused across use cases</a:t>
            </a:r>
            <a:endParaRPr lang="en-US" sz="1300" dirty="0"/>
          </a:p>
        </p:txBody>
      </p:sp>
      <p:sp>
        <p:nvSpPr>
          <p:cNvPr id="17" name="Shape 14"/>
          <p:cNvSpPr/>
          <p:nvPr/>
        </p:nvSpPr>
        <p:spPr>
          <a:xfrm>
            <a:off x="6126480" y="2331720"/>
            <a:ext cx="5257800" cy="3657600"/>
          </a:xfrm>
          <a:prstGeom prst="roundRect">
            <a:avLst>
              <a:gd name="adj" fmla="val 2500"/>
            </a:avLst>
          </a:prstGeom>
          <a:solidFill>
            <a:srgbClr val="FFFFFF"/>
          </a:solidFill>
          <a:ln w="12700">
            <a:solidFill>
              <a:srgbClr val="D8E3F0"/>
            </a:solidFill>
            <a:prstDash val="solid"/>
          </a:ln>
          <a:effectLst>
            <a:outerShdw blurRad="76200" dist="25400" dir="54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8" name="Shape 15"/>
          <p:cNvSpPr/>
          <p:nvPr/>
        </p:nvSpPr>
        <p:spPr>
          <a:xfrm>
            <a:off x="6515100" y="2583180"/>
            <a:ext cx="594360" cy="594360"/>
          </a:xfrm>
          <a:prstGeom prst="ellipse">
            <a:avLst/>
          </a:prstGeom>
          <a:solidFill>
            <a:srgbClr val="3E5C76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19" name="Image 1" descr="/home/claude/deck/icon_exchan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661404" y="2729484"/>
            <a:ext cx="301752" cy="301752"/>
          </a:xfrm>
          <a:prstGeom prst="rect">
            <a:avLst/>
          </a:prstGeom>
        </p:spPr>
      </p:pic>
      <p:sp>
        <p:nvSpPr>
          <p:cNvPr id="20" name="Text 16"/>
          <p:cNvSpPr txBox="1"/>
          <p:nvPr/>
        </p:nvSpPr>
        <p:spPr>
          <a:xfrm>
            <a:off x="7269480" y="2606040"/>
            <a:ext cx="3657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1B2A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DTO</a:t>
            </a:r>
            <a:endParaRPr lang="en-US" sz="1800" dirty="0"/>
          </a:p>
        </p:txBody>
      </p:sp>
      <p:sp>
        <p:nvSpPr>
          <p:cNvPr id="21" name="Shape 17"/>
          <p:cNvSpPr/>
          <p:nvPr/>
        </p:nvSpPr>
        <p:spPr>
          <a:xfrm>
            <a:off x="6492240" y="3502152"/>
            <a:ext cx="82296" cy="82296"/>
          </a:xfrm>
          <a:prstGeom prst="ellipse">
            <a:avLst/>
          </a:prstGeom>
          <a:solidFill>
            <a:srgbClr val="3E5C76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2" name="Text 18"/>
          <p:cNvSpPr txBox="1"/>
          <p:nvPr/>
        </p:nvSpPr>
        <p:spPr>
          <a:xfrm>
            <a:off x="6720840" y="3337560"/>
            <a:ext cx="44805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0000"/>
              </a:lnSpc>
              <a:buNone/>
            </a:pPr>
            <a:r>
              <a:rPr lang="en-US" sz="1300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Lives at the controller boundary</a:t>
            </a:r>
            <a:endParaRPr lang="en-US" sz="1300" dirty="0"/>
          </a:p>
        </p:txBody>
      </p:sp>
      <p:sp>
        <p:nvSpPr>
          <p:cNvPr id="23" name="Shape 19"/>
          <p:cNvSpPr/>
          <p:nvPr/>
        </p:nvSpPr>
        <p:spPr>
          <a:xfrm>
            <a:off x="6492240" y="4069080"/>
            <a:ext cx="82296" cy="82296"/>
          </a:xfrm>
          <a:prstGeom prst="ellipse">
            <a:avLst/>
          </a:prstGeom>
          <a:solidFill>
            <a:srgbClr val="3E5C76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4" name="Text 20"/>
          <p:cNvSpPr txBox="1"/>
          <p:nvPr/>
        </p:nvSpPr>
        <p:spPr>
          <a:xfrm>
            <a:off x="6720840" y="3904488"/>
            <a:ext cx="44805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0000"/>
              </a:lnSpc>
              <a:buNone/>
            </a:pPr>
            <a:r>
              <a:rPr lang="en-US" sz="1300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business logic — just fields</a:t>
            </a:r>
            <a:endParaRPr lang="en-US" sz="1300" dirty="0"/>
          </a:p>
        </p:txBody>
      </p:sp>
      <p:sp>
        <p:nvSpPr>
          <p:cNvPr id="25" name="Shape 21"/>
          <p:cNvSpPr/>
          <p:nvPr/>
        </p:nvSpPr>
        <p:spPr>
          <a:xfrm>
            <a:off x="6492240" y="4636008"/>
            <a:ext cx="82296" cy="82296"/>
          </a:xfrm>
          <a:prstGeom prst="ellipse">
            <a:avLst/>
          </a:prstGeom>
          <a:solidFill>
            <a:srgbClr val="3E5C76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6" name="Text 22"/>
          <p:cNvSpPr txBox="1"/>
          <p:nvPr/>
        </p:nvSpPr>
        <p:spPr>
          <a:xfrm>
            <a:off x="6720840" y="4471416"/>
            <a:ext cx="44805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0000"/>
              </a:lnSpc>
              <a:buNone/>
            </a:pPr>
            <a:r>
              <a:rPr lang="en-US" sz="1300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Shaped by the API contract</a:t>
            </a:r>
            <a:endParaRPr lang="en-US" sz="1300" dirty="0"/>
          </a:p>
        </p:txBody>
      </p:sp>
      <p:sp>
        <p:nvSpPr>
          <p:cNvPr id="27" name="Shape 23"/>
          <p:cNvSpPr/>
          <p:nvPr/>
        </p:nvSpPr>
        <p:spPr>
          <a:xfrm>
            <a:off x="6492240" y="5202936"/>
            <a:ext cx="82296" cy="82296"/>
          </a:xfrm>
          <a:prstGeom prst="ellipse">
            <a:avLst/>
          </a:prstGeom>
          <a:solidFill>
            <a:srgbClr val="3E5C76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8" name="Text 24"/>
          <p:cNvSpPr txBox="1"/>
          <p:nvPr/>
        </p:nvSpPr>
        <p:spPr>
          <a:xfrm>
            <a:off x="6720840" y="5038344"/>
            <a:ext cx="44805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0000"/>
              </a:lnSpc>
              <a:buNone/>
            </a:pPr>
            <a:r>
              <a:rPr lang="en-US" sz="1300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per request/response shape</a:t>
            </a:r>
            <a:endParaRPr lang="en-US" sz="1300" dirty="0"/>
          </a:p>
        </p:txBody>
      </p:sp>
      <p:sp>
        <p:nvSpPr>
          <p:cNvPr id="29" name="Text 25"/>
          <p:cNvSpPr txBox="1"/>
          <p:nvPr/>
        </p:nvSpPr>
        <p:spPr>
          <a:xfrm>
            <a:off x="11475720" y="647395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5B6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10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BFB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84048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E8A3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STEREOTYPE 2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58368"/>
            <a:ext cx="110642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B2A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Validators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662940" y="1348740"/>
            <a:ext cx="685800" cy="685800"/>
          </a:xfrm>
          <a:prstGeom prst="ellipse">
            <a:avLst/>
          </a:prstGeom>
          <a:solidFill>
            <a:srgbClr val="1B2A4A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5" name="Image 0" descr="/home/claude/deck/icon_validator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27532" y="1513332"/>
            <a:ext cx="356616" cy="356616"/>
          </a:xfrm>
          <a:prstGeom prst="rect">
            <a:avLst/>
          </a:prstGeom>
        </p:spPr>
      </p:pic>
      <p:sp>
        <p:nvSpPr>
          <p:cNvPr id="6" name="Text 3"/>
          <p:cNvSpPr txBox="1"/>
          <p:nvPr/>
        </p:nvSpPr>
        <p:spPr>
          <a:xfrm>
            <a:off x="1554480" y="1371600"/>
            <a:ext cx="99669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500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validator answers exactly one question: is this input acceptable? It never mutates state, never calls the database, and never decides what happens next — it only reports problems.</a:t>
            </a:r>
            <a:endParaRPr lang="en-US" sz="1500" dirty="0"/>
          </a:p>
        </p:txBody>
      </p:sp>
      <p:sp>
        <p:nvSpPr>
          <p:cNvPr id="7" name="Shape 4"/>
          <p:cNvSpPr/>
          <p:nvPr/>
        </p:nvSpPr>
        <p:spPr>
          <a:xfrm>
            <a:off x="548640" y="2331720"/>
            <a:ext cx="5257800" cy="1645920"/>
          </a:xfrm>
          <a:prstGeom prst="roundRect">
            <a:avLst>
              <a:gd name="adj" fmla="val 5556"/>
            </a:avLst>
          </a:prstGeom>
          <a:solidFill>
            <a:srgbClr val="D8E3F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8" name="Text 5"/>
          <p:cNvSpPr txBox="1"/>
          <p:nvPr/>
        </p:nvSpPr>
        <p:spPr>
          <a:xfrm>
            <a:off x="822960" y="2487168"/>
            <a:ext cx="4709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Declarative</a:t>
            </a:r>
            <a:endParaRPr lang="en-US" sz="1500" dirty="0"/>
          </a:p>
        </p:txBody>
      </p:sp>
      <p:sp>
        <p:nvSpPr>
          <p:cNvPr id="9" name="Text 6"/>
          <p:cNvSpPr txBox="1"/>
          <p:nvPr/>
        </p:nvSpPr>
        <p:spPr>
          <a:xfrm>
            <a:off x="822960" y="2834640"/>
            <a:ext cx="475488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8000"/>
              </a:lnSpc>
              <a:buNone/>
            </a:pPr>
            <a:r>
              <a:rPr lang="en-US" sz="1250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Bean Validation annotations (@NotNull, @Size, @Email) on a DTO field, checked automatically by Spring at the controller boundary.</a:t>
            </a:r>
            <a:endParaRPr lang="en-US" sz="1250" dirty="0"/>
          </a:p>
        </p:txBody>
      </p:sp>
      <p:sp>
        <p:nvSpPr>
          <p:cNvPr id="10" name="Shape 7"/>
          <p:cNvSpPr/>
          <p:nvPr/>
        </p:nvSpPr>
        <p:spPr>
          <a:xfrm>
            <a:off x="6126480" y="2331720"/>
            <a:ext cx="5257800" cy="1645920"/>
          </a:xfrm>
          <a:prstGeom prst="roundRect">
            <a:avLst>
              <a:gd name="adj" fmla="val 5556"/>
            </a:avLst>
          </a:prstGeom>
          <a:solidFill>
            <a:srgbClr val="D8E3F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1" name="Text 8"/>
          <p:cNvSpPr txBox="1"/>
          <p:nvPr/>
        </p:nvSpPr>
        <p:spPr>
          <a:xfrm>
            <a:off x="6400800" y="2487168"/>
            <a:ext cx="4709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Programmatic</a:t>
            </a:r>
            <a:endParaRPr lang="en-US" sz="1500" dirty="0"/>
          </a:p>
        </p:txBody>
      </p:sp>
      <p:sp>
        <p:nvSpPr>
          <p:cNvPr id="12" name="Text 9"/>
          <p:cNvSpPr txBox="1"/>
          <p:nvPr/>
        </p:nvSpPr>
        <p:spPr>
          <a:xfrm>
            <a:off x="6400800" y="2834640"/>
            <a:ext cx="475488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8000"/>
              </a:lnSpc>
              <a:buNone/>
            </a:pPr>
            <a:r>
              <a:rPr lang="en-US" sz="1250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dedicated *Validator class for rules too complex for annotations — cross-field checks, or rules that depend on other data.</a:t>
            </a:r>
            <a:endParaRPr lang="en-US" sz="1250" dirty="0"/>
          </a:p>
        </p:txBody>
      </p:sp>
      <p:sp>
        <p:nvSpPr>
          <p:cNvPr id="13" name="Shape 10"/>
          <p:cNvSpPr/>
          <p:nvPr/>
        </p:nvSpPr>
        <p:spPr>
          <a:xfrm>
            <a:off x="548640" y="4251960"/>
            <a:ext cx="11064240" cy="1737360"/>
          </a:xfrm>
          <a:prstGeom prst="roundRect">
            <a:avLst>
              <a:gd name="adj" fmla="val 5263"/>
            </a:avLst>
          </a:prstGeom>
          <a:solidFill>
            <a:srgbClr val="1B2A4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4" name="Text 11"/>
          <p:cNvSpPr txBox="1"/>
          <p:nvPr/>
        </p:nvSpPr>
        <p:spPr>
          <a:xfrm>
            <a:off x="868680" y="4434840"/>
            <a:ext cx="10424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E8A3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Why keep validators separate from services?</a:t>
            </a:r>
            <a:endParaRPr lang="en-US" sz="1500" dirty="0"/>
          </a:p>
        </p:txBody>
      </p:sp>
      <p:sp>
        <p:nvSpPr>
          <p:cNvPr id="15" name="Text 12"/>
          <p:cNvSpPr txBox="1"/>
          <p:nvPr/>
        </p:nvSpPr>
        <p:spPr>
          <a:xfrm>
            <a:off x="868680" y="4846320"/>
            <a:ext cx="1042416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5000"/>
              </a:lnSpc>
              <a:buNone/>
            </a:pPr>
            <a:r>
              <a:rPr lang="en-US" sz="1300" dirty="0">
                <a:solidFill>
                  <a:srgbClr val="D8E3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Because the same rule set often needs to run in more than one place — a REST endpoint and a batch import job, for instance — and because a validator with no side effects is trivial to unit test with plain objects, no Spring context required.</a:t>
            </a:r>
            <a:endParaRPr lang="en-US" sz="1300" dirty="0"/>
          </a:p>
        </p:txBody>
      </p:sp>
      <p:sp>
        <p:nvSpPr>
          <p:cNvPr id="16" name="Text 13"/>
          <p:cNvSpPr txBox="1"/>
          <p:nvPr/>
        </p:nvSpPr>
        <p:spPr>
          <a:xfrm>
            <a:off x="11475720" y="647395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5B6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</a:t>
            </a:r>
            <a:endParaRPr lang="en-US" sz="10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BFB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84048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E8A3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STEREOTYPE 2 · CODE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58368"/>
            <a:ext cx="110642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B2A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Validator — OrderValidator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1371600"/>
            <a:ext cx="11064240" cy="4709160"/>
          </a:xfrm>
          <a:prstGeom prst="roundRect">
            <a:avLst>
              <a:gd name="adj" fmla="val 1553"/>
            </a:avLst>
          </a:prstGeom>
          <a:solidFill>
            <a:srgbClr val="1E1E2E"/>
          </a:solidFill>
          <a:ln w="12700">
            <a:solidFill>
              <a:srgbClr val="1E1E2E"/>
            </a:solidFill>
            <a:prstDash val="solid"/>
          </a:ln>
          <a:effectLst>
            <a:outerShdw blurRad="76200" dist="25400" dir="5400000" algn="bl" rotWithShape="0">
              <a:srgbClr val="000000">
                <a:alpha val="25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 txBox="1"/>
          <p:nvPr/>
        </p:nvSpPr>
        <p:spPr>
          <a:xfrm>
            <a:off x="777240" y="1536192"/>
            <a:ext cx="10607040" cy="437997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12000"/>
              </a:lnSpc>
              <a:buNone/>
            </a:pPr>
            <a:r>
              <a:rPr lang="en-US" sz="1050" dirty="0">
                <a:solidFill>
                  <a:srgbClr val="E8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@Component</a:t>
            </a:r>
            <a:endParaRPr lang="en-US" sz="1050" dirty="0"/>
          </a:p>
          <a:p>
            <a:pPr marL="0" indent="0">
              <a:lnSpc>
                <a:spcPct val="112000"/>
              </a:lnSpc>
              <a:buNone/>
            </a:pPr>
            <a:r>
              <a:rPr lang="en-US" sz="1050" dirty="0">
                <a:solidFill>
                  <a:srgbClr val="E8A33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public class </a:t>
            </a:r>
            <a:r>
              <a:rPr lang="en-US" sz="1050" dirty="0">
                <a:solidFill>
                  <a:srgbClr val="E8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OrderValidator {</a:t>
            </a:r>
            <a:endParaRPr lang="en-US" sz="1050" dirty="0"/>
          </a:p>
          <a:p>
            <a:pPr marL="0" indent="0">
              <a:lnSpc>
                <a:spcPct val="112000"/>
              </a:lnSpc>
              <a:buNone/>
            </a:pPr>
            <a:endParaRPr lang="en-US" sz="1050" dirty="0"/>
          </a:p>
          <a:p>
            <a:pPr marL="0" indent="0">
              <a:lnSpc>
                <a:spcPct val="112000"/>
              </a:lnSpc>
              <a:buNone/>
            </a:pPr>
            <a:r>
              <a:rPr lang="en-US" sz="1050" dirty="0">
                <a:solidFill>
                  <a:srgbClr val="E8A33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public ValidationResult </a:t>
            </a:r>
            <a:r>
              <a:rPr lang="en-US" sz="1050" dirty="0">
                <a:solidFill>
                  <a:srgbClr val="E8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validate(CreateOrderRequest req) {</a:t>
            </a:r>
            <a:endParaRPr lang="en-US" sz="1050" dirty="0"/>
          </a:p>
          <a:p>
            <a:pPr marL="0" indent="0">
              <a:lnSpc>
                <a:spcPct val="112000"/>
              </a:lnSpc>
              <a:buNone/>
            </a:pPr>
            <a:r>
              <a:rPr lang="en-US" sz="1050" dirty="0">
                <a:solidFill>
                  <a:srgbClr val="E8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List&lt;String&gt; errors = new ArrayList&lt;&gt;();</a:t>
            </a:r>
            <a:endParaRPr lang="en-US" sz="1050" dirty="0"/>
          </a:p>
          <a:p>
            <a:pPr marL="0" indent="0">
              <a:lnSpc>
                <a:spcPct val="112000"/>
              </a:lnSpc>
              <a:buNone/>
            </a:pPr>
            <a:endParaRPr lang="en-US" sz="1050" dirty="0"/>
          </a:p>
          <a:p>
            <a:pPr marL="0" indent="0">
              <a:lnSpc>
                <a:spcPct val="112000"/>
              </a:lnSpc>
              <a:buNone/>
            </a:pPr>
            <a:r>
              <a:rPr lang="en-US" sz="1050" dirty="0">
                <a:solidFill>
                  <a:srgbClr val="E8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if (req.getLines() == null || req.getLines().isEmpty()) {</a:t>
            </a:r>
            <a:endParaRPr lang="en-US" sz="1050" dirty="0"/>
          </a:p>
          <a:p>
            <a:pPr marL="0" indent="0">
              <a:lnSpc>
                <a:spcPct val="112000"/>
              </a:lnSpc>
              <a:buNone/>
            </a:pPr>
            <a:r>
              <a:rPr lang="en-US" sz="1050" dirty="0">
                <a:solidFill>
                  <a:srgbClr val="E8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   errors.add(</a:t>
            </a:r>
            <a:r>
              <a:rPr lang="en-US" sz="1050" dirty="0">
                <a:solidFill>
                  <a:srgbClr val="9CCFD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"Order must contain at least one line item"</a:t>
            </a:r>
            <a:r>
              <a:rPr lang="en-US" sz="1050" dirty="0">
                <a:solidFill>
                  <a:srgbClr val="E8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);</a:t>
            </a:r>
            <a:endParaRPr lang="en-US" sz="1050" dirty="0"/>
          </a:p>
          <a:p>
            <a:pPr marL="0" indent="0">
              <a:lnSpc>
                <a:spcPct val="112000"/>
              </a:lnSpc>
              <a:buNone/>
            </a:pPr>
            <a:r>
              <a:rPr lang="en-US" sz="1050" dirty="0">
                <a:solidFill>
                  <a:srgbClr val="E8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}</a:t>
            </a:r>
            <a:endParaRPr lang="en-US" sz="1050" dirty="0"/>
          </a:p>
          <a:p>
            <a:pPr marL="0" indent="0">
              <a:lnSpc>
                <a:spcPct val="112000"/>
              </a:lnSpc>
              <a:buNone/>
            </a:pPr>
            <a:r>
              <a:rPr lang="en-US" sz="1050" dirty="0">
                <a:solidFill>
                  <a:srgbClr val="E8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if (req.getCustomerId() == null) {</a:t>
            </a:r>
            <a:endParaRPr lang="en-US" sz="1050" dirty="0"/>
          </a:p>
          <a:p>
            <a:pPr marL="0" indent="0">
              <a:lnSpc>
                <a:spcPct val="112000"/>
              </a:lnSpc>
              <a:buNone/>
            </a:pPr>
            <a:r>
              <a:rPr lang="en-US" sz="1050" dirty="0">
                <a:solidFill>
                  <a:srgbClr val="E8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   errors.add(</a:t>
            </a:r>
            <a:r>
              <a:rPr lang="en-US" sz="1050" dirty="0">
                <a:solidFill>
                  <a:srgbClr val="9CCFD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"customerId is required"</a:t>
            </a:r>
            <a:r>
              <a:rPr lang="en-US" sz="1050" dirty="0">
                <a:solidFill>
                  <a:srgbClr val="E8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);</a:t>
            </a:r>
            <a:endParaRPr lang="en-US" sz="1050" dirty="0"/>
          </a:p>
          <a:p>
            <a:pPr marL="0" indent="0">
              <a:lnSpc>
                <a:spcPct val="112000"/>
              </a:lnSpc>
              <a:buNone/>
            </a:pPr>
            <a:r>
              <a:rPr lang="en-US" sz="1050" dirty="0">
                <a:solidFill>
                  <a:srgbClr val="E8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}</a:t>
            </a:r>
            <a:endParaRPr lang="en-US" sz="1050" dirty="0"/>
          </a:p>
          <a:p>
            <a:pPr marL="0" indent="0">
              <a:lnSpc>
                <a:spcPct val="112000"/>
              </a:lnSpc>
              <a:buNone/>
            </a:pPr>
            <a:r>
              <a:rPr lang="en-US" sz="1050" dirty="0">
                <a:solidFill>
                  <a:srgbClr val="E8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req.getLines().forEach(line -&gt; {</a:t>
            </a:r>
            <a:endParaRPr lang="en-US" sz="1050" dirty="0"/>
          </a:p>
          <a:p>
            <a:pPr marL="0" indent="0">
              <a:lnSpc>
                <a:spcPct val="112000"/>
              </a:lnSpc>
              <a:buNone/>
            </a:pPr>
            <a:r>
              <a:rPr lang="en-US" sz="1050" dirty="0">
                <a:solidFill>
                  <a:srgbClr val="E8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   if (line.getQuantity() &lt;= 0) {</a:t>
            </a:r>
            <a:endParaRPr lang="en-US" sz="1050" dirty="0"/>
          </a:p>
          <a:p>
            <a:pPr marL="0" indent="0">
              <a:lnSpc>
                <a:spcPct val="112000"/>
              </a:lnSpc>
              <a:buNone/>
            </a:pPr>
            <a:r>
              <a:rPr lang="en-US" sz="1050" dirty="0">
                <a:solidFill>
                  <a:srgbClr val="E8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       errors.add(</a:t>
            </a:r>
            <a:r>
              <a:rPr lang="en-US" sz="1050" dirty="0">
                <a:solidFill>
                  <a:srgbClr val="9CCFD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"Quantity must be positive: " </a:t>
            </a:r>
            <a:r>
              <a:rPr lang="en-US" sz="1050" dirty="0">
                <a:solidFill>
                  <a:srgbClr val="E8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+ line.getSku());</a:t>
            </a:r>
            <a:endParaRPr lang="en-US" sz="1050" dirty="0"/>
          </a:p>
          <a:p>
            <a:pPr marL="0" indent="0">
              <a:lnSpc>
                <a:spcPct val="112000"/>
              </a:lnSpc>
              <a:buNone/>
            </a:pPr>
            <a:r>
              <a:rPr lang="en-US" sz="1050" dirty="0">
                <a:solidFill>
                  <a:srgbClr val="E8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   }</a:t>
            </a:r>
            <a:endParaRPr lang="en-US" sz="1050" dirty="0"/>
          </a:p>
          <a:p>
            <a:pPr marL="0" indent="0">
              <a:lnSpc>
                <a:spcPct val="112000"/>
              </a:lnSpc>
              <a:buNone/>
            </a:pPr>
            <a:r>
              <a:rPr lang="en-US" sz="1050" dirty="0">
                <a:solidFill>
                  <a:srgbClr val="E8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});</a:t>
            </a:r>
            <a:endParaRPr lang="en-US" sz="1050" dirty="0"/>
          </a:p>
          <a:p>
            <a:pPr marL="0" indent="0">
              <a:lnSpc>
                <a:spcPct val="112000"/>
              </a:lnSpc>
              <a:buNone/>
            </a:pPr>
            <a:endParaRPr lang="en-US" sz="1050" dirty="0"/>
          </a:p>
          <a:p>
            <a:pPr marL="0" indent="0">
              <a:lnSpc>
                <a:spcPct val="112000"/>
              </a:lnSpc>
              <a:buNone/>
            </a:pPr>
            <a:r>
              <a:rPr lang="en-US" sz="1050" dirty="0">
                <a:solidFill>
                  <a:srgbClr val="E8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return ValidationResult.of(errors);</a:t>
            </a:r>
            <a:endParaRPr lang="en-US" sz="1050" dirty="0"/>
          </a:p>
          <a:p>
            <a:pPr marL="0" indent="0">
              <a:lnSpc>
                <a:spcPct val="112000"/>
              </a:lnSpc>
              <a:buNone/>
            </a:pPr>
            <a:r>
              <a:rPr lang="en-US" sz="1050" dirty="0">
                <a:solidFill>
                  <a:srgbClr val="E8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}</a:t>
            </a:r>
            <a:endParaRPr lang="en-US" sz="1050" dirty="0"/>
          </a:p>
          <a:p>
            <a:pPr marL="0" indent="0">
              <a:lnSpc>
                <a:spcPct val="112000"/>
              </a:lnSpc>
              <a:buNone/>
            </a:pPr>
            <a:r>
              <a:rPr lang="en-US" sz="1050" dirty="0">
                <a:solidFill>
                  <a:srgbClr val="E8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}</a:t>
            </a:r>
            <a:endParaRPr lang="en-US" sz="1050" dirty="0"/>
          </a:p>
        </p:txBody>
      </p:sp>
      <p:sp>
        <p:nvSpPr>
          <p:cNvPr id="6" name="Text 4"/>
          <p:cNvSpPr txBox="1"/>
          <p:nvPr/>
        </p:nvSpPr>
        <p:spPr>
          <a:xfrm>
            <a:off x="548640" y="6199632"/>
            <a:ext cx="11064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i="1" dirty="0">
                <a:solidFill>
                  <a:srgbClr val="5B6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database calls, no exceptions for control flow — just data in, a list of problems out. That makes it fast and easy to test.</a:t>
            </a:r>
            <a:endParaRPr lang="en-US" sz="1150" dirty="0"/>
          </a:p>
        </p:txBody>
      </p:sp>
      <p:sp>
        <p:nvSpPr>
          <p:cNvPr id="7" name="Text 5"/>
          <p:cNvSpPr txBox="1"/>
          <p:nvPr/>
        </p:nvSpPr>
        <p:spPr>
          <a:xfrm>
            <a:off x="11475720" y="647395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5B6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</a:t>
            </a:r>
            <a:endParaRPr lang="en-US" sz="10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BFB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84048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E8A3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STEREOTYPE 3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58368"/>
            <a:ext cx="110642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B2A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Service Layer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662940" y="1348740"/>
            <a:ext cx="685800" cy="685800"/>
          </a:xfrm>
          <a:prstGeom prst="ellipse">
            <a:avLst/>
          </a:prstGeom>
          <a:solidFill>
            <a:srgbClr val="1B2A4A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5" name="Image 0" descr="/home/claude/deck/icon_servic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27532" y="1513332"/>
            <a:ext cx="356616" cy="356616"/>
          </a:xfrm>
          <a:prstGeom prst="rect">
            <a:avLst/>
          </a:prstGeom>
        </p:spPr>
      </p:pic>
      <p:sp>
        <p:nvSpPr>
          <p:cNvPr id="6" name="Text 3"/>
          <p:cNvSpPr txBox="1"/>
          <p:nvPr/>
        </p:nvSpPr>
        <p:spPr>
          <a:xfrm>
            <a:off x="1554480" y="1371600"/>
            <a:ext cx="99669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500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service layer is where business use cases live: "place an order," "close an account," "apply a discount." It coordinates domain objects and repositories, and owns the transaction boundary.</a:t>
            </a:r>
            <a:endParaRPr lang="en-US" sz="1500" dirty="0"/>
          </a:p>
        </p:txBody>
      </p:sp>
      <p:sp>
        <p:nvSpPr>
          <p:cNvPr id="7" name="Shape 4"/>
          <p:cNvSpPr/>
          <p:nvPr/>
        </p:nvSpPr>
        <p:spPr>
          <a:xfrm>
            <a:off x="548640" y="2423160"/>
            <a:ext cx="109728" cy="713232"/>
          </a:xfrm>
          <a:prstGeom prst="roundRect">
            <a:avLst/>
          </a:prstGeom>
          <a:solidFill>
            <a:srgbClr val="3E5C76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8" name="Text 5"/>
          <p:cNvSpPr txBox="1"/>
          <p:nvPr/>
        </p:nvSpPr>
        <p:spPr>
          <a:xfrm>
            <a:off x="822960" y="2395728"/>
            <a:ext cx="10607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method per use case</a:t>
            </a:r>
            <a:endParaRPr lang="en-US" sz="1400" dirty="0"/>
          </a:p>
        </p:txBody>
      </p:sp>
      <p:sp>
        <p:nvSpPr>
          <p:cNvPr id="9" name="Text 6"/>
          <p:cNvSpPr txBox="1"/>
          <p:nvPr/>
        </p:nvSpPr>
        <p:spPr>
          <a:xfrm>
            <a:off x="822960" y="2697480"/>
            <a:ext cx="10607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5B6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placeOrder(), not a generic update() that does five different things</a:t>
            </a:r>
            <a:endParaRPr lang="en-US" sz="1250" dirty="0"/>
          </a:p>
        </p:txBody>
      </p:sp>
      <p:sp>
        <p:nvSpPr>
          <p:cNvPr id="10" name="Shape 7"/>
          <p:cNvSpPr/>
          <p:nvPr/>
        </p:nvSpPr>
        <p:spPr>
          <a:xfrm>
            <a:off x="548640" y="3319272"/>
            <a:ext cx="109728" cy="713232"/>
          </a:xfrm>
          <a:prstGeom prst="roundRect">
            <a:avLst/>
          </a:prstGeom>
          <a:solidFill>
            <a:srgbClr val="3E5C76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1" name="Text 8"/>
          <p:cNvSpPr txBox="1"/>
          <p:nvPr/>
        </p:nvSpPr>
        <p:spPr>
          <a:xfrm>
            <a:off x="822960" y="3291840"/>
            <a:ext cx="10607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Owns @Transactional</a:t>
            </a:r>
            <a:endParaRPr lang="en-US" sz="1400" dirty="0"/>
          </a:p>
        </p:txBody>
      </p:sp>
      <p:sp>
        <p:nvSpPr>
          <p:cNvPr id="12" name="Text 9"/>
          <p:cNvSpPr txBox="1"/>
          <p:nvPr/>
        </p:nvSpPr>
        <p:spPr>
          <a:xfrm>
            <a:off x="822960" y="3593592"/>
            <a:ext cx="10607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5B6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single service method defines where a unit of work begins and ends</a:t>
            </a:r>
            <a:endParaRPr lang="en-US" sz="1250" dirty="0"/>
          </a:p>
        </p:txBody>
      </p:sp>
      <p:sp>
        <p:nvSpPr>
          <p:cNvPr id="13" name="Shape 10"/>
          <p:cNvSpPr/>
          <p:nvPr/>
        </p:nvSpPr>
        <p:spPr>
          <a:xfrm>
            <a:off x="548640" y="4215384"/>
            <a:ext cx="109728" cy="713232"/>
          </a:xfrm>
          <a:prstGeom prst="roundRect">
            <a:avLst/>
          </a:prstGeom>
          <a:solidFill>
            <a:srgbClr val="3E5C76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4" name="Text 11"/>
          <p:cNvSpPr txBox="1"/>
          <p:nvPr/>
        </p:nvSpPr>
        <p:spPr>
          <a:xfrm>
            <a:off x="822960" y="4187952"/>
            <a:ext cx="10607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Talks to repositories, not to SQL</a:t>
            </a:r>
            <a:endParaRPr lang="en-US" sz="1400" dirty="0"/>
          </a:p>
        </p:txBody>
      </p:sp>
      <p:sp>
        <p:nvSpPr>
          <p:cNvPr id="15" name="Text 12"/>
          <p:cNvSpPr txBox="1"/>
          <p:nvPr/>
        </p:nvSpPr>
        <p:spPr>
          <a:xfrm>
            <a:off x="822960" y="4489704"/>
            <a:ext cx="10607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5B6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Persistence detail is delegated, never inlined</a:t>
            </a:r>
            <a:endParaRPr lang="en-US" sz="1250" dirty="0"/>
          </a:p>
        </p:txBody>
      </p:sp>
      <p:sp>
        <p:nvSpPr>
          <p:cNvPr id="16" name="Shape 13"/>
          <p:cNvSpPr/>
          <p:nvPr/>
        </p:nvSpPr>
        <p:spPr>
          <a:xfrm>
            <a:off x="548640" y="5111496"/>
            <a:ext cx="109728" cy="713232"/>
          </a:xfrm>
          <a:prstGeom prst="roundRect">
            <a:avLst/>
          </a:prstGeom>
          <a:solidFill>
            <a:srgbClr val="3E5C76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7" name="Text 14"/>
          <p:cNvSpPr txBox="1"/>
          <p:nvPr/>
        </p:nvSpPr>
        <p:spPr>
          <a:xfrm>
            <a:off x="822960" y="5084064"/>
            <a:ext cx="10607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Stateless</a:t>
            </a:r>
            <a:endParaRPr lang="en-US" sz="1400" dirty="0"/>
          </a:p>
        </p:txBody>
      </p:sp>
      <p:sp>
        <p:nvSpPr>
          <p:cNvPr id="18" name="Text 15"/>
          <p:cNvSpPr txBox="1"/>
          <p:nvPr/>
        </p:nvSpPr>
        <p:spPr>
          <a:xfrm>
            <a:off x="822960" y="5385816"/>
            <a:ext cx="10607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5B6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service instance holds no per-request state between calls</a:t>
            </a:r>
            <a:endParaRPr lang="en-US" sz="1250" dirty="0"/>
          </a:p>
        </p:txBody>
      </p:sp>
      <p:sp>
        <p:nvSpPr>
          <p:cNvPr id="19" name="Text 16"/>
          <p:cNvSpPr txBox="1"/>
          <p:nvPr/>
        </p:nvSpPr>
        <p:spPr>
          <a:xfrm>
            <a:off x="11475720" y="647395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5B6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</a:t>
            </a:r>
            <a:endParaRPr lang="en-US" sz="10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BFB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84048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E8A3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STEREOTYPE 3 · CODE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58368"/>
            <a:ext cx="110642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B2A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Service — OrderService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1371600"/>
            <a:ext cx="11064240" cy="4709160"/>
          </a:xfrm>
          <a:prstGeom prst="roundRect">
            <a:avLst>
              <a:gd name="adj" fmla="val 1553"/>
            </a:avLst>
          </a:prstGeom>
          <a:solidFill>
            <a:srgbClr val="1E1E2E"/>
          </a:solidFill>
          <a:ln w="12700">
            <a:solidFill>
              <a:srgbClr val="1E1E2E"/>
            </a:solidFill>
            <a:prstDash val="solid"/>
          </a:ln>
          <a:effectLst>
            <a:outerShdw blurRad="76200" dist="25400" dir="5400000" algn="bl" rotWithShape="0">
              <a:srgbClr val="000000">
                <a:alpha val="25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 txBox="1"/>
          <p:nvPr/>
        </p:nvSpPr>
        <p:spPr>
          <a:xfrm>
            <a:off x="777240" y="1536192"/>
            <a:ext cx="10607040" cy="437997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12000"/>
              </a:lnSpc>
              <a:buNone/>
            </a:pPr>
            <a:r>
              <a:rPr lang="en-US" sz="1050" dirty="0">
                <a:solidFill>
                  <a:srgbClr val="E8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@Service</a:t>
            </a:r>
            <a:endParaRPr lang="en-US" sz="1050" dirty="0"/>
          </a:p>
          <a:p>
            <a:pPr marL="0" indent="0">
              <a:lnSpc>
                <a:spcPct val="112000"/>
              </a:lnSpc>
              <a:buNone/>
            </a:pPr>
            <a:r>
              <a:rPr lang="en-US" sz="1050" dirty="0">
                <a:solidFill>
                  <a:srgbClr val="E8A33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public class </a:t>
            </a:r>
            <a:r>
              <a:rPr lang="en-US" sz="1050" dirty="0">
                <a:solidFill>
                  <a:srgbClr val="E8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OrderService {</a:t>
            </a:r>
            <a:endParaRPr lang="en-US" sz="1050" dirty="0"/>
          </a:p>
          <a:p>
            <a:pPr marL="0" indent="0">
              <a:lnSpc>
                <a:spcPct val="112000"/>
              </a:lnSpc>
              <a:buNone/>
            </a:pPr>
            <a:endParaRPr lang="en-US" sz="1050" dirty="0"/>
          </a:p>
          <a:p>
            <a:pPr marL="0" indent="0">
              <a:lnSpc>
                <a:spcPct val="112000"/>
              </a:lnSpc>
              <a:buNone/>
            </a:pPr>
            <a:r>
              <a:rPr lang="en-US" sz="1050" dirty="0">
                <a:solidFill>
                  <a:srgbClr val="E8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private final OrderRepository orders;</a:t>
            </a:r>
            <a:endParaRPr lang="en-US" sz="1050" dirty="0"/>
          </a:p>
          <a:p>
            <a:pPr marL="0" indent="0">
              <a:lnSpc>
                <a:spcPct val="112000"/>
              </a:lnSpc>
              <a:buNone/>
            </a:pPr>
            <a:r>
              <a:rPr lang="en-US" sz="1050" dirty="0">
                <a:solidFill>
                  <a:srgbClr val="E8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private final InventoryClient inventory;</a:t>
            </a:r>
            <a:endParaRPr lang="en-US" sz="1050" dirty="0"/>
          </a:p>
          <a:p>
            <a:pPr marL="0" indent="0">
              <a:lnSpc>
                <a:spcPct val="112000"/>
              </a:lnSpc>
              <a:buNone/>
            </a:pPr>
            <a:endParaRPr lang="en-US" sz="1050" dirty="0"/>
          </a:p>
          <a:p>
            <a:pPr marL="0" indent="0">
              <a:lnSpc>
                <a:spcPct val="112000"/>
              </a:lnSpc>
              <a:buNone/>
            </a:pPr>
            <a:r>
              <a:rPr lang="en-US" sz="1050" dirty="0">
                <a:solidFill>
                  <a:srgbClr val="7A7A8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// constructor injection — fields stay final</a:t>
            </a:r>
            <a:endParaRPr lang="en-US" sz="1050" dirty="0"/>
          </a:p>
          <a:p>
            <a:pPr marL="0" indent="0">
              <a:lnSpc>
                <a:spcPct val="112000"/>
              </a:lnSpc>
              <a:buNone/>
            </a:pPr>
            <a:r>
              <a:rPr lang="en-US" sz="1050" dirty="0">
                <a:solidFill>
                  <a:srgbClr val="E8A33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public </a:t>
            </a:r>
            <a:r>
              <a:rPr lang="en-US" sz="1050" dirty="0">
                <a:solidFill>
                  <a:srgbClr val="E8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OrderService(OrderRepository orders, InventoryClient inventory) {</a:t>
            </a:r>
            <a:endParaRPr lang="en-US" sz="1050" dirty="0"/>
          </a:p>
          <a:p>
            <a:pPr marL="0" indent="0">
              <a:lnSpc>
                <a:spcPct val="112000"/>
              </a:lnSpc>
              <a:buNone/>
            </a:pPr>
            <a:r>
              <a:rPr lang="en-US" sz="1050" dirty="0">
                <a:solidFill>
                  <a:srgbClr val="E8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this.orders = orders;</a:t>
            </a:r>
            <a:endParaRPr lang="en-US" sz="1050" dirty="0"/>
          </a:p>
          <a:p>
            <a:pPr marL="0" indent="0">
              <a:lnSpc>
                <a:spcPct val="112000"/>
              </a:lnSpc>
              <a:buNone/>
            </a:pPr>
            <a:r>
              <a:rPr lang="en-US" sz="1050" dirty="0">
                <a:solidFill>
                  <a:srgbClr val="E8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this.inventory = inventory;</a:t>
            </a:r>
            <a:endParaRPr lang="en-US" sz="1050" dirty="0"/>
          </a:p>
          <a:p>
            <a:pPr marL="0" indent="0">
              <a:lnSpc>
                <a:spcPct val="112000"/>
              </a:lnSpc>
              <a:buNone/>
            </a:pPr>
            <a:r>
              <a:rPr lang="en-US" sz="1050" dirty="0">
                <a:solidFill>
                  <a:srgbClr val="E8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}</a:t>
            </a:r>
            <a:endParaRPr lang="en-US" sz="1050" dirty="0"/>
          </a:p>
          <a:p>
            <a:pPr marL="0" indent="0">
              <a:lnSpc>
                <a:spcPct val="112000"/>
              </a:lnSpc>
              <a:buNone/>
            </a:pPr>
            <a:endParaRPr lang="en-US" sz="1050" dirty="0"/>
          </a:p>
          <a:p>
            <a:pPr marL="0" indent="0">
              <a:lnSpc>
                <a:spcPct val="112000"/>
              </a:lnSpc>
              <a:buNone/>
            </a:pPr>
            <a:r>
              <a:rPr lang="en-US" sz="1050" dirty="0">
                <a:solidFill>
                  <a:srgbClr val="E8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@Transactional</a:t>
            </a:r>
            <a:endParaRPr lang="en-US" sz="1050" dirty="0"/>
          </a:p>
          <a:p>
            <a:pPr marL="0" indent="0">
              <a:lnSpc>
                <a:spcPct val="112000"/>
              </a:lnSpc>
              <a:buNone/>
            </a:pPr>
            <a:r>
              <a:rPr lang="en-US" sz="1050" dirty="0">
                <a:solidFill>
                  <a:srgbClr val="E8A33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public Order </a:t>
            </a:r>
            <a:r>
              <a:rPr lang="en-US" sz="1050" dirty="0">
                <a:solidFill>
                  <a:srgbClr val="E8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placeOrder(CustomerId customer, List&lt;OrderLine&gt; lines) {</a:t>
            </a:r>
            <a:endParaRPr lang="en-US" sz="1050" dirty="0"/>
          </a:p>
          <a:p>
            <a:pPr marL="0" indent="0">
              <a:lnSpc>
                <a:spcPct val="112000"/>
              </a:lnSpc>
              <a:buNone/>
            </a:pPr>
            <a:r>
              <a:rPr lang="en-US" sz="1050" dirty="0">
                <a:solidFill>
                  <a:srgbClr val="E8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Order order = new Order(customer);</a:t>
            </a:r>
            <a:endParaRPr lang="en-US" sz="1050" dirty="0"/>
          </a:p>
          <a:p>
            <a:pPr marL="0" indent="0">
              <a:lnSpc>
                <a:spcPct val="112000"/>
              </a:lnSpc>
              <a:buNone/>
            </a:pPr>
            <a:r>
              <a:rPr lang="en-US" sz="1050" dirty="0">
                <a:solidFill>
                  <a:srgbClr val="E8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lines.forEach(order::addLine);</a:t>
            </a:r>
            <a:endParaRPr lang="en-US" sz="1050" dirty="0"/>
          </a:p>
          <a:p>
            <a:pPr marL="0" indent="0">
              <a:lnSpc>
                <a:spcPct val="112000"/>
              </a:lnSpc>
              <a:buNone/>
            </a:pPr>
            <a:endParaRPr lang="en-US" sz="1050" dirty="0"/>
          </a:p>
          <a:p>
            <a:pPr marL="0" indent="0">
              <a:lnSpc>
                <a:spcPct val="112000"/>
              </a:lnSpc>
              <a:buNone/>
            </a:pPr>
            <a:r>
              <a:rPr lang="en-US" sz="1050" dirty="0">
                <a:solidFill>
                  <a:srgbClr val="E8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inventory.reserve(order);</a:t>
            </a:r>
            <a:endParaRPr lang="en-US" sz="1050" dirty="0"/>
          </a:p>
          <a:p>
            <a:pPr marL="0" indent="0">
              <a:lnSpc>
                <a:spcPct val="112000"/>
              </a:lnSpc>
              <a:buNone/>
            </a:pPr>
            <a:r>
              <a:rPr lang="en-US" sz="1050" dirty="0">
                <a:solidFill>
                  <a:srgbClr val="E8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return orders.save(order);</a:t>
            </a:r>
            <a:endParaRPr lang="en-US" sz="1050" dirty="0"/>
          </a:p>
          <a:p>
            <a:pPr marL="0" indent="0">
              <a:lnSpc>
                <a:spcPct val="112000"/>
              </a:lnSpc>
              <a:buNone/>
            </a:pPr>
            <a:r>
              <a:rPr lang="en-US" sz="1050" dirty="0">
                <a:solidFill>
                  <a:srgbClr val="E8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}</a:t>
            </a:r>
            <a:endParaRPr lang="en-US" sz="1050" dirty="0"/>
          </a:p>
          <a:p>
            <a:pPr marL="0" indent="0">
              <a:lnSpc>
                <a:spcPct val="112000"/>
              </a:lnSpc>
              <a:buNone/>
            </a:pPr>
            <a:r>
              <a:rPr lang="en-US" sz="1050" dirty="0">
                <a:solidFill>
                  <a:srgbClr val="E8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}</a:t>
            </a:r>
            <a:endParaRPr lang="en-US" sz="1050" dirty="0"/>
          </a:p>
        </p:txBody>
      </p:sp>
      <p:sp>
        <p:nvSpPr>
          <p:cNvPr id="6" name="Text 4"/>
          <p:cNvSpPr txBox="1"/>
          <p:nvPr/>
        </p:nvSpPr>
        <p:spPr>
          <a:xfrm>
            <a:off x="548640" y="6199632"/>
            <a:ext cx="11064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i="1" dirty="0">
                <a:solidFill>
                  <a:srgbClr val="5B6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reservation call and the save happen in one transaction — if either fails, both roll back.</a:t>
            </a:r>
            <a:endParaRPr lang="en-US" sz="1150" dirty="0"/>
          </a:p>
        </p:txBody>
      </p:sp>
      <p:sp>
        <p:nvSpPr>
          <p:cNvPr id="7" name="Text 5"/>
          <p:cNvSpPr txBox="1"/>
          <p:nvPr/>
        </p:nvSpPr>
        <p:spPr>
          <a:xfrm>
            <a:off x="11475720" y="647395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5B6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</a:t>
            </a:r>
            <a:endParaRPr lang="en-US" sz="10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BFB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84048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E8A3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STEREOTYPE 4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58368"/>
            <a:ext cx="110642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B2A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Data Access Classes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662940" y="1348740"/>
            <a:ext cx="685800" cy="685800"/>
          </a:xfrm>
          <a:prstGeom prst="ellipse">
            <a:avLst/>
          </a:prstGeom>
          <a:solidFill>
            <a:srgbClr val="3E5C76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5" name="Image 0" descr="/home/claude/deck/icon_da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27532" y="1513332"/>
            <a:ext cx="356616" cy="356616"/>
          </a:xfrm>
          <a:prstGeom prst="rect">
            <a:avLst/>
          </a:prstGeom>
        </p:spPr>
      </p:pic>
      <p:sp>
        <p:nvSpPr>
          <p:cNvPr id="6" name="Text 3"/>
          <p:cNvSpPr txBox="1"/>
          <p:nvPr/>
        </p:nvSpPr>
        <p:spPr>
          <a:xfrm>
            <a:off x="1554480" y="1371600"/>
            <a:ext cx="99669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500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repository (or DAO) is solely responsible for moving domain objects in and out of storage. It knows how to query — it does not know why the caller is asking, or what to do with the answer.</a:t>
            </a:r>
            <a:endParaRPr lang="en-US" sz="1500" dirty="0"/>
          </a:p>
        </p:txBody>
      </p:sp>
      <p:sp>
        <p:nvSpPr>
          <p:cNvPr id="7" name="Shape 4"/>
          <p:cNvSpPr/>
          <p:nvPr/>
        </p:nvSpPr>
        <p:spPr>
          <a:xfrm>
            <a:off x="548640" y="2331720"/>
            <a:ext cx="5349240" cy="3611880"/>
          </a:xfrm>
          <a:prstGeom prst="roundRect">
            <a:avLst>
              <a:gd name="adj" fmla="val 2532"/>
            </a:avLst>
          </a:prstGeom>
          <a:solidFill>
            <a:srgbClr val="D8E3F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8" name="Text 5"/>
          <p:cNvSpPr txBox="1"/>
          <p:nvPr/>
        </p:nvSpPr>
        <p:spPr>
          <a:xfrm>
            <a:off x="822960" y="2542032"/>
            <a:ext cx="4754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B2A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Spring Data JPA</a:t>
            </a:r>
            <a:endParaRPr lang="en-US" sz="1600" dirty="0"/>
          </a:p>
        </p:txBody>
      </p:sp>
      <p:sp>
        <p:nvSpPr>
          <p:cNvPr id="9" name="Text 6"/>
          <p:cNvSpPr txBox="1"/>
          <p:nvPr/>
        </p:nvSpPr>
        <p:spPr>
          <a:xfrm>
            <a:off x="822960" y="2926080"/>
            <a:ext cx="48006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300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 typical CRUD and simple queries, extend JpaRepository and let Spring generate the implementation from method names — no boilerplate SQL to maintain.</a:t>
            </a:r>
            <a:endParaRPr lang="en-US" sz="1300" dirty="0"/>
          </a:p>
        </p:txBody>
      </p:sp>
      <p:sp>
        <p:nvSpPr>
          <p:cNvPr id="10" name="Text 7"/>
          <p:cNvSpPr txBox="1"/>
          <p:nvPr/>
        </p:nvSpPr>
        <p:spPr>
          <a:xfrm>
            <a:off x="822960" y="4023360"/>
            <a:ext cx="48006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250" i="1" dirty="0">
                <a:solidFill>
                  <a:srgbClr val="5B6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 @Query (JPQL or native SQL) when the derived-method-name syntax gets unreadable.</a:t>
            </a:r>
            <a:endParaRPr lang="en-US" sz="1250" dirty="0"/>
          </a:p>
        </p:txBody>
      </p:sp>
      <p:sp>
        <p:nvSpPr>
          <p:cNvPr id="11" name="Shape 8"/>
          <p:cNvSpPr/>
          <p:nvPr/>
        </p:nvSpPr>
        <p:spPr>
          <a:xfrm>
            <a:off x="6263640" y="2331720"/>
            <a:ext cx="5349240" cy="3611880"/>
          </a:xfrm>
          <a:prstGeom prst="roundRect">
            <a:avLst>
              <a:gd name="adj" fmla="val 2532"/>
            </a:avLst>
          </a:prstGeom>
          <a:solidFill>
            <a:srgbClr val="1B2A4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2" name="Text 9"/>
          <p:cNvSpPr txBox="1"/>
          <p:nvPr/>
        </p:nvSpPr>
        <p:spPr>
          <a:xfrm>
            <a:off x="6537960" y="2542032"/>
            <a:ext cx="4754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E8A3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one rule that matters</a:t>
            </a:r>
            <a:endParaRPr lang="en-US" sz="1600" dirty="0"/>
          </a:p>
        </p:txBody>
      </p:sp>
      <p:sp>
        <p:nvSpPr>
          <p:cNvPr id="13" name="Text 10"/>
          <p:cNvSpPr txBox="1"/>
          <p:nvPr/>
        </p:nvSpPr>
        <p:spPr>
          <a:xfrm>
            <a:off x="6537960" y="2926080"/>
            <a:ext cx="480060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300" dirty="0">
                <a:solidFill>
                  <a:srgbClr val="D8E3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repository never contains business logic. No discount math, no status transitions, no "if premium customer then..." — that all belongs one layer up, in the service.</a:t>
            </a:r>
            <a:endParaRPr lang="en-US" sz="1300" dirty="0"/>
          </a:p>
        </p:txBody>
      </p:sp>
      <p:sp>
        <p:nvSpPr>
          <p:cNvPr id="14" name="Text 11"/>
          <p:cNvSpPr txBox="1"/>
          <p:nvPr/>
        </p:nvSpPr>
        <p:spPr>
          <a:xfrm>
            <a:off x="6537960" y="4251960"/>
            <a:ext cx="480060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250" i="1" dirty="0">
                <a:solidFill>
                  <a:srgbClr val="D8E3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If you find yourself writing "and()" logic branches inside a repository method, that's a signal the logic wants to live in the service instead.</a:t>
            </a:r>
            <a:endParaRPr lang="en-US" sz="1250" dirty="0"/>
          </a:p>
        </p:txBody>
      </p:sp>
      <p:sp>
        <p:nvSpPr>
          <p:cNvPr id="15" name="Text 12"/>
          <p:cNvSpPr txBox="1"/>
          <p:nvPr/>
        </p:nvSpPr>
        <p:spPr>
          <a:xfrm>
            <a:off x="11475720" y="647395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5B6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</a:t>
            </a:r>
            <a:endParaRPr lang="en-US" sz="10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BFB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84048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E8A3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STEREOTYPE 4 · CODE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58368"/>
            <a:ext cx="110642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B2A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Repository — OrderRepository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1371600"/>
            <a:ext cx="11064240" cy="4709160"/>
          </a:xfrm>
          <a:prstGeom prst="roundRect">
            <a:avLst>
              <a:gd name="adj" fmla="val 1553"/>
            </a:avLst>
          </a:prstGeom>
          <a:solidFill>
            <a:srgbClr val="1E1E2E"/>
          </a:solidFill>
          <a:ln w="12700">
            <a:solidFill>
              <a:srgbClr val="1E1E2E"/>
            </a:solidFill>
            <a:prstDash val="solid"/>
          </a:ln>
          <a:effectLst>
            <a:outerShdw blurRad="76200" dist="25400" dir="5400000" algn="bl" rotWithShape="0">
              <a:srgbClr val="000000">
                <a:alpha val="25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 txBox="1"/>
          <p:nvPr/>
        </p:nvSpPr>
        <p:spPr>
          <a:xfrm>
            <a:off x="777240" y="1536192"/>
            <a:ext cx="10607040" cy="437997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12000"/>
              </a:lnSpc>
              <a:buNone/>
            </a:pPr>
            <a:r>
              <a:rPr lang="en-US" sz="1300" dirty="0">
                <a:solidFill>
                  <a:srgbClr val="E8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@Repository</a:t>
            </a:r>
            <a:endParaRPr lang="en-US" sz="1300" dirty="0"/>
          </a:p>
          <a:p>
            <a:pPr marL="0" indent="0">
              <a:lnSpc>
                <a:spcPct val="112000"/>
              </a:lnSpc>
              <a:buNone/>
            </a:pPr>
            <a:r>
              <a:rPr lang="en-US" sz="1300" dirty="0">
                <a:solidFill>
                  <a:srgbClr val="E8A33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public interface </a:t>
            </a:r>
            <a:r>
              <a:rPr lang="en-US" sz="1300" dirty="0">
                <a:solidFill>
                  <a:srgbClr val="E8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OrderRepository extends JpaRepository&lt;Order, Long&gt; {</a:t>
            </a:r>
            <a:endParaRPr lang="en-US" sz="1300" dirty="0"/>
          </a:p>
          <a:p>
            <a:pPr marL="0" indent="0">
              <a:lnSpc>
                <a:spcPct val="112000"/>
              </a:lnSpc>
              <a:buNone/>
            </a:pPr>
            <a:endParaRPr lang="en-US" sz="1300" dirty="0"/>
          </a:p>
          <a:p>
            <a:pPr marL="0" indent="0">
              <a:lnSpc>
                <a:spcPct val="112000"/>
              </a:lnSpc>
              <a:buNone/>
            </a:pPr>
            <a:r>
              <a:rPr lang="en-US" sz="1300" dirty="0">
                <a:solidFill>
                  <a:srgbClr val="7A7A8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// Spring Data derives the query from the method name</a:t>
            </a:r>
            <a:endParaRPr lang="en-US" sz="1300" dirty="0"/>
          </a:p>
          <a:p>
            <a:pPr marL="0" indent="0">
              <a:lnSpc>
                <a:spcPct val="112000"/>
              </a:lnSpc>
              <a:buNone/>
            </a:pPr>
            <a:r>
              <a:rPr lang="en-US" sz="1300" dirty="0">
                <a:solidFill>
                  <a:srgbClr val="E8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List&lt;Order&gt; findByCustomerIdAndStatus(</a:t>
            </a:r>
            <a:endParaRPr lang="en-US" sz="1300" dirty="0"/>
          </a:p>
          <a:p>
            <a:pPr marL="0" indent="0">
              <a:lnSpc>
                <a:spcPct val="112000"/>
              </a:lnSpc>
              <a:buNone/>
            </a:pPr>
            <a:r>
              <a:rPr lang="en-US" sz="1300" dirty="0">
                <a:solidFill>
                  <a:srgbClr val="E8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   CustomerId customerId, OrderStatus status);</a:t>
            </a:r>
            <a:endParaRPr lang="en-US" sz="1300" dirty="0"/>
          </a:p>
          <a:p>
            <a:pPr marL="0" indent="0">
              <a:lnSpc>
                <a:spcPct val="112000"/>
              </a:lnSpc>
              <a:buNone/>
            </a:pPr>
            <a:endParaRPr lang="en-US" sz="1300" dirty="0"/>
          </a:p>
          <a:p>
            <a:pPr marL="0" indent="0">
              <a:lnSpc>
                <a:spcPct val="112000"/>
              </a:lnSpc>
              <a:buNone/>
            </a:pPr>
            <a:r>
              <a:rPr lang="en-US" sz="1300" dirty="0">
                <a:solidFill>
                  <a:srgbClr val="7A7A8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// drop to JPQL when the method name would get unreadable</a:t>
            </a:r>
            <a:endParaRPr lang="en-US" sz="1300" dirty="0"/>
          </a:p>
          <a:p>
            <a:pPr marL="0" indent="0">
              <a:lnSpc>
                <a:spcPct val="112000"/>
              </a:lnSpc>
              <a:buNone/>
            </a:pPr>
            <a:r>
              <a:rPr lang="en-US" sz="1300" dirty="0">
                <a:solidFill>
                  <a:srgbClr val="E8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@Query(</a:t>
            </a:r>
            <a:r>
              <a:rPr lang="en-US" sz="1300" dirty="0">
                <a:solidFill>
                  <a:srgbClr val="9CCFD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"select o from Order o where o.total &gt; :minTotal"</a:t>
            </a:r>
            <a:r>
              <a:rPr lang="en-US" sz="1300" dirty="0">
                <a:solidFill>
                  <a:srgbClr val="E8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)</a:t>
            </a:r>
            <a:endParaRPr lang="en-US" sz="1300" dirty="0"/>
          </a:p>
          <a:p>
            <a:pPr marL="0" indent="0">
              <a:lnSpc>
                <a:spcPct val="112000"/>
              </a:lnSpc>
              <a:buNone/>
            </a:pPr>
            <a:r>
              <a:rPr lang="en-US" sz="1300" dirty="0">
                <a:solidFill>
                  <a:srgbClr val="E8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List&lt;Order&gt; findHighValueOrders(@Param(</a:t>
            </a:r>
            <a:r>
              <a:rPr lang="en-US" sz="1300" dirty="0">
                <a:solidFill>
                  <a:srgbClr val="9CCFD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"minTotal"</a:t>
            </a:r>
            <a:r>
              <a:rPr lang="en-US" sz="1300" dirty="0">
                <a:solidFill>
                  <a:srgbClr val="E8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) BigDecimal minTotal);</a:t>
            </a:r>
            <a:endParaRPr lang="en-US" sz="1300" dirty="0"/>
          </a:p>
          <a:p>
            <a:pPr marL="0" indent="0">
              <a:lnSpc>
                <a:spcPct val="112000"/>
              </a:lnSpc>
              <a:buNone/>
            </a:pPr>
            <a:r>
              <a:rPr lang="en-US" sz="1300" dirty="0">
                <a:solidFill>
                  <a:srgbClr val="E8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}</a:t>
            </a:r>
            <a:endParaRPr lang="en-US" sz="1300" dirty="0"/>
          </a:p>
        </p:txBody>
      </p:sp>
      <p:sp>
        <p:nvSpPr>
          <p:cNvPr id="6" name="Text 4"/>
          <p:cNvSpPr txBox="1"/>
          <p:nvPr/>
        </p:nvSpPr>
        <p:spPr>
          <a:xfrm>
            <a:off x="548640" y="6199632"/>
            <a:ext cx="11064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i="1" dirty="0">
                <a:solidFill>
                  <a:srgbClr val="5B6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That's it — an interface, no implementation to write. Spring Data JPA generates it at startup.</a:t>
            </a:r>
            <a:endParaRPr lang="en-US" sz="1150" dirty="0"/>
          </a:p>
        </p:txBody>
      </p:sp>
      <p:sp>
        <p:nvSpPr>
          <p:cNvPr id="7" name="Text 5"/>
          <p:cNvSpPr txBox="1"/>
          <p:nvPr/>
        </p:nvSpPr>
        <p:spPr>
          <a:xfrm>
            <a:off x="11475720" y="647395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5B6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13</a:t>
            </a:r>
            <a:endParaRPr lang="en-US" sz="10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BFB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84048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E8A3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SYNTHESIS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58368"/>
            <a:ext cx="110642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B2A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Putting it all together: placing an order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1600200"/>
            <a:ext cx="11064240" cy="749808"/>
          </a:xfrm>
          <a:prstGeom prst="roundRect">
            <a:avLst>
              <a:gd name="adj" fmla="val 9756"/>
            </a:avLst>
          </a:prstGeom>
          <a:solidFill>
            <a:srgbClr val="FFFFFF"/>
          </a:solidFill>
          <a:ln w="12700">
            <a:solidFill>
              <a:srgbClr val="D8E3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Shape 3"/>
          <p:cNvSpPr/>
          <p:nvPr/>
        </p:nvSpPr>
        <p:spPr>
          <a:xfrm>
            <a:off x="713232" y="1746504"/>
            <a:ext cx="457200" cy="457200"/>
          </a:xfrm>
          <a:prstGeom prst="ellipse">
            <a:avLst/>
          </a:prstGeom>
          <a:solidFill>
            <a:srgbClr val="3E5C76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6" name="Text 4"/>
          <p:cNvSpPr txBox="1"/>
          <p:nvPr/>
        </p:nvSpPr>
        <p:spPr>
          <a:xfrm>
            <a:off x="713232" y="1746504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1600" dirty="0"/>
          </a:p>
        </p:txBody>
      </p:sp>
      <p:sp>
        <p:nvSpPr>
          <p:cNvPr id="7" name="Text 5"/>
          <p:cNvSpPr txBox="1"/>
          <p:nvPr/>
        </p:nvSpPr>
        <p:spPr>
          <a:xfrm>
            <a:off x="1371600" y="1719072"/>
            <a:ext cx="182880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Controller</a:t>
            </a:r>
            <a:endParaRPr lang="en-US" sz="1450" dirty="0"/>
          </a:p>
        </p:txBody>
      </p:sp>
      <p:sp>
        <p:nvSpPr>
          <p:cNvPr id="8" name="Text 6"/>
          <p:cNvSpPr txBox="1"/>
          <p:nvPr/>
        </p:nvSpPr>
        <p:spPr>
          <a:xfrm>
            <a:off x="3291840" y="1719072"/>
            <a:ext cx="813816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receives POST /orders, deserializes the JSON into a CreateOrderRequest DTO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548640" y="2496312"/>
            <a:ext cx="11064240" cy="749808"/>
          </a:xfrm>
          <a:prstGeom prst="roundRect">
            <a:avLst>
              <a:gd name="adj" fmla="val 9756"/>
            </a:avLst>
          </a:prstGeom>
          <a:solidFill>
            <a:srgbClr val="FFFFFF"/>
          </a:solidFill>
          <a:ln w="12700">
            <a:solidFill>
              <a:srgbClr val="D8E3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" name="Shape 8"/>
          <p:cNvSpPr/>
          <p:nvPr/>
        </p:nvSpPr>
        <p:spPr>
          <a:xfrm>
            <a:off x="713232" y="2642616"/>
            <a:ext cx="457200" cy="457200"/>
          </a:xfrm>
          <a:prstGeom prst="ellipse">
            <a:avLst/>
          </a:prstGeom>
          <a:solidFill>
            <a:srgbClr val="1B2A4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1" name="Text 9"/>
          <p:cNvSpPr txBox="1"/>
          <p:nvPr/>
        </p:nvSpPr>
        <p:spPr>
          <a:xfrm>
            <a:off x="713232" y="2642616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1600" dirty="0"/>
          </a:p>
        </p:txBody>
      </p:sp>
      <p:sp>
        <p:nvSpPr>
          <p:cNvPr id="12" name="Text 10"/>
          <p:cNvSpPr txBox="1"/>
          <p:nvPr/>
        </p:nvSpPr>
        <p:spPr>
          <a:xfrm>
            <a:off x="1371600" y="2615184"/>
            <a:ext cx="182880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Validator</a:t>
            </a:r>
            <a:endParaRPr lang="en-US" sz="1450" dirty="0"/>
          </a:p>
        </p:txBody>
      </p:sp>
      <p:sp>
        <p:nvSpPr>
          <p:cNvPr id="13" name="Text 11"/>
          <p:cNvSpPr txBox="1"/>
          <p:nvPr/>
        </p:nvSpPr>
        <p:spPr>
          <a:xfrm>
            <a:off x="3291840" y="2615184"/>
            <a:ext cx="813816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checks the DTO for missing fields and bad quantities before anything else runs</a:t>
            </a:r>
            <a:endParaRPr lang="en-US" sz="1300" dirty="0"/>
          </a:p>
        </p:txBody>
      </p:sp>
      <p:sp>
        <p:nvSpPr>
          <p:cNvPr id="14" name="Shape 12"/>
          <p:cNvSpPr/>
          <p:nvPr/>
        </p:nvSpPr>
        <p:spPr>
          <a:xfrm>
            <a:off x="548640" y="3392424"/>
            <a:ext cx="11064240" cy="749808"/>
          </a:xfrm>
          <a:prstGeom prst="roundRect">
            <a:avLst>
              <a:gd name="adj" fmla="val 9756"/>
            </a:avLst>
          </a:prstGeom>
          <a:solidFill>
            <a:srgbClr val="FFFFFF"/>
          </a:solidFill>
          <a:ln w="12700">
            <a:solidFill>
              <a:srgbClr val="D8E3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5" name="Shape 13"/>
          <p:cNvSpPr/>
          <p:nvPr/>
        </p:nvSpPr>
        <p:spPr>
          <a:xfrm>
            <a:off x="713232" y="3538728"/>
            <a:ext cx="457200" cy="457200"/>
          </a:xfrm>
          <a:prstGeom prst="ellipse">
            <a:avLst/>
          </a:prstGeom>
          <a:solidFill>
            <a:srgbClr val="1B2A4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6" name="Text 14"/>
          <p:cNvSpPr txBox="1"/>
          <p:nvPr/>
        </p:nvSpPr>
        <p:spPr>
          <a:xfrm>
            <a:off x="713232" y="3538728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1600" dirty="0"/>
          </a:p>
        </p:txBody>
      </p:sp>
      <p:sp>
        <p:nvSpPr>
          <p:cNvPr id="17" name="Text 15"/>
          <p:cNvSpPr txBox="1"/>
          <p:nvPr/>
        </p:nvSpPr>
        <p:spPr>
          <a:xfrm>
            <a:off x="1371600" y="3511296"/>
            <a:ext cx="182880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Service</a:t>
            </a:r>
            <a:endParaRPr lang="en-US" sz="1450" dirty="0"/>
          </a:p>
        </p:txBody>
      </p:sp>
      <p:sp>
        <p:nvSpPr>
          <p:cNvPr id="18" name="Text 16"/>
          <p:cNvSpPr txBox="1"/>
          <p:nvPr/>
        </p:nvSpPr>
        <p:spPr>
          <a:xfrm>
            <a:off x="3291840" y="3511296"/>
            <a:ext cx="813816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builds an Order domain object, applies business rules, opens the transaction</a:t>
            </a:r>
            <a:endParaRPr lang="en-US" sz="1300" dirty="0"/>
          </a:p>
        </p:txBody>
      </p:sp>
      <p:sp>
        <p:nvSpPr>
          <p:cNvPr id="19" name="Shape 17"/>
          <p:cNvSpPr/>
          <p:nvPr/>
        </p:nvSpPr>
        <p:spPr>
          <a:xfrm>
            <a:off x="548640" y="4288536"/>
            <a:ext cx="11064240" cy="749808"/>
          </a:xfrm>
          <a:prstGeom prst="roundRect">
            <a:avLst>
              <a:gd name="adj" fmla="val 9756"/>
            </a:avLst>
          </a:prstGeom>
          <a:solidFill>
            <a:srgbClr val="FFFFFF"/>
          </a:solidFill>
          <a:ln w="12700">
            <a:solidFill>
              <a:srgbClr val="D8E3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0" name="Shape 18"/>
          <p:cNvSpPr/>
          <p:nvPr/>
        </p:nvSpPr>
        <p:spPr>
          <a:xfrm>
            <a:off x="713232" y="4434840"/>
            <a:ext cx="457200" cy="457200"/>
          </a:xfrm>
          <a:prstGeom prst="ellipse">
            <a:avLst/>
          </a:prstGeom>
          <a:solidFill>
            <a:srgbClr val="3E5C76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1" name="Text 19"/>
          <p:cNvSpPr txBox="1"/>
          <p:nvPr/>
        </p:nvSpPr>
        <p:spPr>
          <a:xfrm>
            <a:off x="713232" y="443484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</a:t>
            </a:r>
            <a:endParaRPr lang="en-US" sz="1600" dirty="0"/>
          </a:p>
        </p:txBody>
      </p:sp>
      <p:sp>
        <p:nvSpPr>
          <p:cNvPr id="22" name="Text 20"/>
          <p:cNvSpPr txBox="1"/>
          <p:nvPr/>
        </p:nvSpPr>
        <p:spPr>
          <a:xfrm>
            <a:off x="1371600" y="4407408"/>
            <a:ext cx="182880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Repository</a:t>
            </a:r>
            <a:endParaRPr lang="en-US" sz="1450" dirty="0"/>
          </a:p>
        </p:txBody>
      </p:sp>
      <p:sp>
        <p:nvSpPr>
          <p:cNvPr id="23" name="Text 21"/>
          <p:cNvSpPr txBox="1"/>
          <p:nvPr/>
        </p:nvSpPr>
        <p:spPr>
          <a:xfrm>
            <a:off x="3291840" y="4407408"/>
            <a:ext cx="813816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persists the Order and returns the saved entity with its generated id</a:t>
            </a:r>
            <a:endParaRPr lang="en-US" sz="1300" dirty="0"/>
          </a:p>
        </p:txBody>
      </p:sp>
      <p:sp>
        <p:nvSpPr>
          <p:cNvPr id="24" name="Shape 22"/>
          <p:cNvSpPr/>
          <p:nvPr/>
        </p:nvSpPr>
        <p:spPr>
          <a:xfrm>
            <a:off x="548640" y="5184648"/>
            <a:ext cx="11064240" cy="749808"/>
          </a:xfrm>
          <a:prstGeom prst="roundRect">
            <a:avLst>
              <a:gd name="adj" fmla="val 9756"/>
            </a:avLst>
          </a:prstGeom>
          <a:solidFill>
            <a:srgbClr val="FFFFFF"/>
          </a:solidFill>
          <a:ln w="12700">
            <a:solidFill>
              <a:srgbClr val="D8E3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5" name="Shape 23"/>
          <p:cNvSpPr/>
          <p:nvPr/>
        </p:nvSpPr>
        <p:spPr>
          <a:xfrm>
            <a:off x="713232" y="5330952"/>
            <a:ext cx="457200" cy="457200"/>
          </a:xfrm>
          <a:prstGeom prst="ellipse">
            <a:avLst/>
          </a:prstGeom>
          <a:solidFill>
            <a:srgbClr val="E8A33D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6" name="Text 24"/>
          <p:cNvSpPr txBox="1"/>
          <p:nvPr/>
        </p:nvSpPr>
        <p:spPr>
          <a:xfrm>
            <a:off x="713232" y="5330952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5</a:t>
            </a:r>
            <a:endParaRPr lang="en-US" sz="1600" dirty="0"/>
          </a:p>
        </p:txBody>
      </p:sp>
      <p:sp>
        <p:nvSpPr>
          <p:cNvPr id="27" name="Text 25"/>
          <p:cNvSpPr txBox="1"/>
          <p:nvPr/>
        </p:nvSpPr>
        <p:spPr>
          <a:xfrm>
            <a:off x="1371600" y="5303520"/>
            <a:ext cx="182880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Controller</a:t>
            </a:r>
            <a:endParaRPr lang="en-US" sz="1450" dirty="0"/>
          </a:p>
        </p:txBody>
      </p:sp>
      <p:sp>
        <p:nvSpPr>
          <p:cNvPr id="28" name="Text 26"/>
          <p:cNvSpPr txBox="1"/>
          <p:nvPr/>
        </p:nvSpPr>
        <p:spPr>
          <a:xfrm>
            <a:off x="3291840" y="5303520"/>
            <a:ext cx="813816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maps the saved Order back to a response DTO and returns 201 Created</a:t>
            </a:r>
            <a:endParaRPr lang="en-US" sz="1300" dirty="0"/>
          </a:p>
        </p:txBody>
      </p:sp>
      <p:sp>
        <p:nvSpPr>
          <p:cNvPr id="29" name="Text 27"/>
          <p:cNvSpPr txBox="1"/>
          <p:nvPr/>
        </p:nvSpPr>
        <p:spPr>
          <a:xfrm>
            <a:off x="11475720" y="647395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5B6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14</a:t>
            </a:r>
            <a:endParaRPr lang="en-US" sz="10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BFB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84048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E8A3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WATCH OUT FOR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58368"/>
            <a:ext cx="110642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B2A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Common anti-patterns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1600200"/>
            <a:ext cx="5440680" cy="1298448"/>
          </a:xfrm>
          <a:prstGeom prst="roundRect">
            <a:avLst>
              <a:gd name="adj" fmla="val 7042"/>
            </a:avLst>
          </a:prstGeom>
          <a:solidFill>
            <a:srgbClr val="FFFFFF"/>
          </a:solidFill>
          <a:ln w="12700">
            <a:solidFill>
              <a:srgbClr val="E8B4B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Shape 3"/>
          <p:cNvSpPr/>
          <p:nvPr/>
        </p:nvSpPr>
        <p:spPr>
          <a:xfrm>
            <a:off x="777240" y="1828800"/>
            <a:ext cx="457200" cy="457200"/>
          </a:xfrm>
          <a:prstGeom prst="ellipse">
            <a:avLst/>
          </a:prstGeom>
          <a:solidFill>
            <a:srgbClr val="B33A3A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6" name="Image 0" descr="/home/claude/deck/icon_warning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96112" y="1947672"/>
            <a:ext cx="219456" cy="219456"/>
          </a:xfrm>
          <a:prstGeom prst="rect">
            <a:avLst/>
          </a:prstGeom>
        </p:spPr>
      </p:pic>
      <p:sp>
        <p:nvSpPr>
          <p:cNvPr id="7" name="Text 4"/>
          <p:cNvSpPr txBox="1"/>
          <p:nvPr/>
        </p:nvSpPr>
        <p:spPr>
          <a:xfrm>
            <a:off x="1371600" y="1719072"/>
            <a:ext cx="44348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Fat controller</a:t>
            </a:r>
            <a:endParaRPr lang="en-US" sz="1350" dirty="0"/>
          </a:p>
        </p:txBody>
      </p:sp>
      <p:sp>
        <p:nvSpPr>
          <p:cNvPr id="8" name="Text 5"/>
          <p:cNvSpPr txBox="1"/>
          <p:nvPr/>
        </p:nvSpPr>
        <p:spPr>
          <a:xfrm>
            <a:off x="1371600" y="2057400"/>
            <a:ext cx="44348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5B6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Business logic and SQL written directly inside a @RestController method</a:t>
            </a:r>
            <a:endParaRPr lang="en-US" sz="1150" dirty="0"/>
          </a:p>
        </p:txBody>
      </p:sp>
      <p:sp>
        <p:nvSpPr>
          <p:cNvPr id="9" name="Shape 6"/>
          <p:cNvSpPr/>
          <p:nvPr/>
        </p:nvSpPr>
        <p:spPr>
          <a:xfrm>
            <a:off x="6355080" y="1600200"/>
            <a:ext cx="5440680" cy="1298448"/>
          </a:xfrm>
          <a:prstGeom prst="roundRect">
            <a:avLst>
              <a:gd name="adj" fmla="val 7042"/>
            </a:avLst>
          </a:prstGeom>
          <a:solidFill>
            <a:srgbClr val="FFFFFF"/>
          </a:solidFill>
          <a:ln w="12700">
            <a:solidFill>
              <a:srgbClr val="E8B4B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" name="Shape 7"/>
          <p:cNvSpPr/>
          <p:nvPr/>
        </p:nvSpPr>
        <p:spPr>
          <a:xfrm>
            <a:off x="6583680" y="1828800"/>
            <a:ext cx="457200" cy="457200"/>
          </a:xfrm>
          <a:prstGeom prst="ellipse">
            <a:avLst/>
          </a:prstGeom>
          <a:solidFill>
            <a:srgbClr val="B33A3A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11" name="Image 1" descr="/home/claude/deck/icon_warning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702552" y="1947672"/>
            <a:ext cx="219456" cy="219456"/>
          </a:xfrm>
          <a:prstGeom prst="rect">
            <a:avLst/>
          </a:prstGeom>
        </p:spPr>
      </p:pic>
      <p:sp>
        <p:nvSpPr>
          <p:cNvPr id="12" name="Text 8"/>
          <p:cNvSpPr txBox="1"/>
          <p:nvPr/>
        </p:nvSpPr>
        <p:spPr>
          <a:xfrm>
            <a:off x="7178040" y="1719072"/>
            <a:ext cx="44348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Anemic everything, service does it all</a:t>
            </a:r>
            <a:endParaRPr lang="en-US" sz="1350" dirty="0"/>
          </a:p>
        </p:txBody>
      </p:sp>
      <p:sp>
        <p:nvSpPr>
          <p:cNvPr id="13" name="Text 9"/>
          <p:cNvSpPr txBox="1"/>
          <p:nvPr/>
        </p:nvSpPr>
        <p:spPr>
          <a:xfrm>
            <a:off x="7178040" y="2057400"/>
            <a:ext cx="44348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5B6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Domain objects are bare getters/setters; every rule lives in one giant service class</a:t>
            </a:r>
            <a:endParaRPr lang="en-US" sz="1150" dirty="0"/>
          </a:p>
        </p:txBody>
      </p:sp>
      <p:sp>
        <p:nvSpPr>
          <p:cNvPr id="14" name="Shape 10"/>
          <p:cNvSpPr/>
          <p:nvPr/>
        </p:nvSpPr>
        <p:spPr>
          <a:xfrm>
            <a:off x="548640" y="3063240"/>
            <a:ext cx="5440680" cy="1298448"/>
          </a:xfrm>
          <a:prstGeom prst="roundRect">
            <a:avLst>
              <a:gd name="adj" fmla="val 7042"/>
            </a:avLst>
          </a:prstGeom>
          <a:solidFill>
            <a:srgbClr val="FFFFFF"/>
          </a:solidFill>
          <a:ln w="12700">
            <a:solidFill>
              <a:srgbClr val="E8B4B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5" name="Shape 11"/>
          <p:cNvSpPr/>
          <p:nvPr/>
        </p:nvSpPr>
        <p:spPr>
          <a:xfrm>
            <a:off x="777240" y="3291840"/>
            <a:ext cx="457200" cy="457200"/>
          </a:xfrm>
          <a:prstGeom prst="ellipse">
            <a:avLst/>
          </a:prstGeom>
          <a:solidFill>
            <a:srgbClr val="B33A3A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16" name="Image 2" descr="/home/claude/deck/icon_warning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96112" y="3410712"/>
            <a:ext cx="219456" cy="219456"/>
          </a:xfrm>
          <a:prstGeom prst="rect">
            <a:avLst/>
          </a:prstGeom>
        </p:spPr>
      </p:pic>
      <p:sp>
        <p:nvSpPr>
          <p:cNvPr id="17" name="Text 12"/>
          <p:cNvSpPr txBox="1"/>
          <p:nvPr/>
        </p:nvSpPr>
        <p:spPr>
          <a:xfrm>
            <a:off x="1371600" y="3182112"/>
            <a:ext cx="44348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Repository with business branches</a:t>
            </a:r>
            <a:endParaRPr lang="en-US" sz="1350" dirty="0"/>
          </a:p>
        </p:txBody>
      </p:sp>
      <p:sp>
        <p:nvSpPr>
          <p:cNvPr id="18" name="Text 13"/>
          <p:cNvSpPr txBox="1"/>
          <p:nvPr/>
        </p:nvSpPr>
        <p:spPr>
          <a:xfrm>
            <a:off x="1371600" y="3520440"/>
            <a:ext cx="44348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5B6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if/else business decisions embedded in a query method</a:t>
            </a:r>
            <a:endParaRPr lang="en-US" sz="1150" dirty="0"/>
          </a:p>
        </p:txBody>
      </p:sp>
      <p:sp>
        <p:nvSpPr>
          <p:cNvPr id="19" name="Shape 14"/>
          <p:cNvSpPr/>
          <p:nvPr/>
        </p:nvSpPr>
        <p:spPr>
          <a:xfrm>
            <a:off x="6355080" y="3063240"/>
            <a:ext cx="5440680" cy="1298448"/>
          </a:xfrm>
          <a:prstGeom prst="roundRect">
            <a:avLst>
              <a:gd name="adj" fmla="val 7042"/>
            </a:avLst>
          </a:prstGeom>
          <a:solidFill>
            <a:srgbClr val="FFFFFF"/>
          </a:solidFill>
          <a:ln w="12700">
            <a:solidFill>
              <a:srgbClr val="E8B4B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0" name="Shape 15"/>
          <p:cNvSpPr/>
          <p:nvPr/>
        </p:nvSpPr>
        <p:spPr>
          <a:xfrm>
            <a:off x="6583680" y="3291840"/>
            <a:ext cx="457200" cy="457200"/>
          </a:xfrm>
          <a:prstGeom prst="ellipse">
            <a:avLst/>
          </a:prstGeom>
          <a:solidFill>
            <a:srgbClr val="B33A3A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21" name="Image 3" descr="/home/claude/deck/icon_warning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702552" y="3410712"/>
            <a:ext cx="219456" cy="219456"/>
          </a:xfrm>
          <a:prstGeom prst="rect">
            <a:avLst/>
          </a:prstGeom>
        </p:spPr>
      </p:pic>
      <p:sp>
        <p:nvSpPr>
          <p:cNvPr id="22" name="Text 16"/>
          <p:cNvSpPr txBox="1"/>
          <p:nvPr/>
        </p:nvSpPr>
        <p:spPr>
          <a:xfrm>
            <a:off x="7178040" y="3182112"/>
            <a:ext cx="44348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Validation duplicated per endpoint</a:t>
            </a:r>
            <a:endParaRPr lang="en-US" sz="1350" dirty="0"/>
          </a:p>
        </p:txBody>
      </p:sp>
      <p:sp>
        <p:nvSpPr>
          <p:cNvPr id="23" name="Text 17"/>
          <p:cNvSpPr txBox="1"/>
          <p:nvPr/>
        </p:nvSpPr>
        <p:spPr>
          <a:xfrm>
            <a:off x="7178040" y="3520440"/>
            <a:ext cx="44348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5B6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same field checks copy-pasted instead of shared in one validator</a:t>
            </a:r>
            <a:endParaRPr lang="en-US" sz="1150" dirty="0"/>
          </a:p>
        </p:txBody>
      </p:sp>
      <p:sp>
        <p:nvSpPr>
          <p:cNvPr id="24" name="Shape 18"/>
          <p:cNvSpPr/>
          <p:nvPr/>
        </p:nvSpPr>
        <p:spPr>
          <a:xfrm>
            <a:off x="548640" y="4526280"/>
            <a:ext cx="5440680" cy="1298448"/>
          </a:xfrm>
          <a:prstGeom prst="roundRect">
            <a:avLst>
              <a:gd name="adj" fmla="val 7042"/>
            </a:avLst>
          </a:prstGeom>
          <a:solidFill>
            <a:srgbClr val="FFFFFF"/>
          </a:solidFill>
          <a:ln w="12700">
            <a:solidFill>
              <a:srgbClr val="E8B4B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5" name="Shape 19"/>
          <p:cNvSpPr/>
          <p:nvPr/>
        </p:nvSpPr>
        <p:spPr>
          <a:xfrm>
            <a:off x="777240" y="4754880"/>
            <a:ext cx="457200" cy="457200"/>
          </a:xfrm>
          <a:prstGeom prst="ellipse">
            <a:avLst/>
          </a:prstGeom>
          <a:solidFill>
            <a:srgbClr val="B33A3A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26" name="Image 4" descr="/home/claude/deck/icon_warning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96112" y="4873752"/>
            <a:ext cx="219456" cy="219456"/>
          </a:xfrm>
          <a:prstGeom prst="rect">
            <a:avLst/>
          </a:prstGeom>
        </p:spPr>
      </p:pic>
      <p:sp>
        <p:nvSpPr>
          <p:cNvPr id="27" name="Text 20"/>
          <p:cNvSpPr txBox="1"/>
          <p:nvPr/>
        </p:nvSpPr>
        <p:spPr>
          <a:xfrm>
            <a:off x="1371600" y="4645152"/>
            <a:ext cx="44348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Service returning entities straight to the wire</a:t>
            </a:r>
            <a:endParaRPr lang="en-US" sz="1350" dirty="0"/>
          </a:p>
        </p:txBody>
      </p:sp>
      <p:sp>
        <p:nvSpPr>
          <p:cNvPr id="28" name="Text 21"/>
          <p:cNvSpPr txBox="1"/>
          <p:nvPr/>
        </p:nvSpPr>
        <p:spPr>
          <a:xfrm>
            <a:off x="1371600" y="4983480"/>
            <a:ext cx="44348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5B6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Skipping DTOs leaks persistence details (and lazy-loading errors) into the API</a:t>
            </a:r>
            <a:endParaRPr lang="en-US" sz="1150" dirty="0"/>
          </a:p>
        </p:txBody>
      </p:sp>
      <p:sp>
        <p:nvSpPr>
          <p:cNvPr id="29" name="Shape 22"/>
          <p:cNvSpPr/>
          <p:nvPr/>
        </p:nvSpPr>
        <p:spPr>
          <a:xfrm>
            <a:off x="6355080" y="4526280"/>
            <a:ext cx="5440680" cy="1298448"/>
          </a:xfrm>
          <a:prstGeom prst="roundRect">
            <a:avLst>
              <a:gd name="adj" fmla="val 7042"/>
            </a:avLst>
          </a:prstGeom>
          <a:solidFill>
            <a:srgbClr val="FFFFFF"/>
          </a:solidFill>
          <a:ln w="12700">
            <a:solidFill>
              <a:srgbClr val="E8B4B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0" name="Shape 23"/>
          <p:cNvSpPr/>
          <p:nvPr/>
        </p:nvSpPr>
        <p:spPr>
          <a:xfrm>
            <a:off x="6583680" y="4754880"/>
            <a:ext cx="457200" cy="457200"/>
          </a:xfrm>
          <a:prstGeom prst="ellipse">
            <a:avLst/>
          </a:prstGeom>
          <a:solidFill>
            <a:srgbClr val="B33A3A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31" name="Image 5" descr="/home/claude/deck/icon_warning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702552" y="4873752"/>
            <a:ext cx="219456" cy="219456"/>
          </a:xfrm>
          <a:prstGeom prst="rect">
            <a:avLst/>
          </a:prstGeom>
        </p:spPr>
      </p:pic>
      <p:sp>
        <p:nvSpPr>
          <p:cNvPr id="32" name="Text 24"/>
          <p:cNvSpPr txBox="1"/>
          <p:nvPr/>
        </p:nvSpPr>
        <p:spPr>
          <a:xfrm>
            <a:off x="7178040" y="4645152"/>
            <a:ext cx="44348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Transactions started in the wrong layer</a:t>
            </a:r>
            <a:endParaRPr lang="en-US" sz="1350" dirty="0"/>
          </a:p>
        </p:txBody>
      </p:sp>
      <p:sp>
        <p:nvSpPr>
          <p:cNvPr id="33" name="Text 25"/>
          <p:cNvSpPr txBox="1"/>
          <p:nvPr/>
        </p:nvSpPr>
        <p:spPr>
          <a:xfrm>
            <a:off x="7178040" y="4983480"/>
            <a:ext cx="44348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5B6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@Transactional on a controller or repository method instead of the service</a:t>
            </a:r>
            <a:endParaRPr lang="en-US" sz="1150" dirty="0"/>
          </a:p>
        </p:txBody>
      </p:sp>
      <p:sp>
        <p:nvSpPr>
          <p:cNvPr id="34" name="Text 26"/>
          <p:cNvSpPr txBox="1"/>
          <p:nvPr/>
        </p:nvSpPr>
        <p:spPr>
          <a:xfrm>
            <a:off x="11475720" y="647395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5B6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</a:t>
            </a:r>
            <a:endParaRPr lang="en-US" sz="10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BFB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84048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E8A3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CONVENTIONS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58368"/>
            <a:ext cx="110642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B2A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Naming and package structure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1508760"/>
            <a:ext cx="5349240" cy="4572000"/>
          </a:xfrm>
          <a:prstGeom prst="roundRect">
            <a:avLst>
              <a:gd name="adj" fmla="val 1600"/>
            </a:avLst>
          </a:prstGeom>
          <a:solidFill>
            <a:srgbClr val="1E1E2E"/>
          </a:solidFill>
          <a:ln w="12700">
            <a:solidFill>
              <a:srgbClr val="1E1E2E"/>
            </a:solidFill>
            <a:prstDash val="solid"/>
          </a:ln>
          <a:effectLst>
            <a:outerShdw blurRad="76200" dist="25400" dir="5400000" algn="bl" rotWithShape="0">
              <a:srgbClr val="000000">
                <a:alpha val="25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 txBox="1"/>
          <p:nvPr/>
        </p:nvSpPr>
        <p:spPr>
          <a:xfrm>
            <a:off x="777240" y="1673352"/>
            <a:ext cx="4892040" cy="42428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12000"/>
              </a:lnSpc>
              <a:buNone/>
            </a:pPr>
            <a:r>
              <a:rPr lang="en-US" sz="1350" dirty="0">
                <a:solidFill>
                  <a:srgbClr val="E8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com.acme.orders</a:t>
            </a:r>
            <a:endParaRPr lang="en-US" sz="1350" dirty="0"/>
          </a:p>
          <a:p>
            <a:pPr marL="0" indent="0">
              <a:lnSpc>
                <a:spcPct val="112000"/>
              </a:lnSpc>
              <a:buNone/>
            </a:pPr>
            <a:r>
              <a:rPr lang="en-US" sz="1350" dirty="0">
                <a:solidFill>
                  <a:srgbClr val="E8A33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├── domain/</a:t>
            </a:r>
            <a:endParaRPr lang="en-US" sz="1350" dirty="0"/>
          </a:p>
          <a:p>
            <a:pPr marL="0" indent="0">
              <a:lnSpc>
                <a:spcPct val="112000"/>
              </a:lnSpc>
              <a:buNone/>
            </a:pPr>
            <a:r>
              <a:rPr lang="en-US" sz="1350" dirty="0">
                <a:solidFill>
                  <a:srgbClr val="E8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│   ├── Order.java</a:t>
            </a:r>
            <a:endParaRPr lang="en-US" sz="1350" dirty="0"/>
          </a:p>
          <a:p>
            <a:pPr marL="0" indent="0">
              <a:lnSpc>
                <a:spcPct val="112000"/>
              </a:lnSpc>
              <a:buNone/>
            </a:pPr>
            <a:r>
              <a:rPr lang="en-US" sz="1350" dirty="0">
                <a:solidFill>
                  <a:srgbClr val="E8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│   ├── OrderLine.java</a:t>
            </a:r>
            <a:endParaRPr lang="en-US" sz="1350" dirty="0"/>
          </a:p>
          <a:p>
            <a:pPr marL="0" indent="0">
              <a:lnSpc>
                <a:spcPct val="112000"/>
              </a:lnSpc>
              <a:buNone/>
            </a:pPr>
            <a:r>
              <a:rPr lang="en-US" sz="1350" dirty="0">
                <a:solidFill>
                  <a:srgbClr val="E8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│   └── OrderStatus.java</a:t>
            </a:r>
            <a:endParaRPr lang="en-US" sz="1350" dirty="0"/>
          </a:p>
          <a:p>
            <a:pPr marL="0" indent="0">
              <a:lnSpc>
                <a:spcPct val="112000"/>
              </a:lnSpc>
              <a:buNone/>
            </a:pPr>
            <a:r>
              <a:rPr lang="en-US" sz="1350" dirty="0">
                <a:solidFill>
                  <a:srgbClr val="E8A33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├── validation/</a:t>
            </a:r>
            <a:endParaRPr lang="en-US" sz="1350" dirty="0"/>
          </a:p>
          <a:p>
            <a:pPr marL="0" indent="0">
              <a:lnSpc>
                <a:spcPct val="112000"/>
              </a:lnSpc>
              <a:buNone/>
            </a:pPr>
            <a:r>
              <a:rPr lang="en-US" sz="1350" dirty="0">
                <a:solidFill>
                  <a:srgbClr val="E8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│   └── OrderValidator.java</a:t>
            </a:r>
            <a:endParaRPr lang="en-US" sz="1350" dirty="0"/>
          </a:p>
          <a:p>
            <a:pPr marL="0" indent="0">
              <a:lnSpc>
                <a:spcPct val="112000"/>
              </a:lnSpc>
              <a:buNone/>
            </a:pPr>
            <a:r>
              <a:rPr lang="en-US" sz="1350" dirty="0">
                <a:solidFill>
                  <a:srgbClr val="E8A33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├── service/</a:t>
            </a:r>
            <a:endParaRPr lang="en-US" sz="1350" dirty="0"/>
          </a:p>
          <a:p>
            <a:pPr marL="0" indent="0">
              <a:lnSpc>
                <a:spcPct val="112000"/>
              </a:lnSpc>
              <a:buNone/>
            </a:pPr>
            <a:r>
              <a:rPr lang="en-US" sz="1350" dirty="0">
                <a:solidFill>
                  <a:srgbClr val="E8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│   └── OrderService.java</a:t>
            </a:r>
            <a:endParaRPr lang="en-US" sz="1350" dirty="0"/>
          </a:p>
          <a:p>
            <a:pPr marL="0" indent="0">
              <a:lnSpc>
                <a:spcPct val="112000"/>
              </a:lnSpc>
              <a:buNone/>
            </a:pPr>
            <a:r>
              <a:rPr lang="en-US" sz="1350" dirty="0">
                <a:solidFill>
                  <a:srgbClr val="E8A33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├── repository/</a:t>
            </a:r>
            <a:endParaRPr lang="en-US" sz="1350" dirty="0"/>
          </a:p>
          <a:p>
            <a:pPr marL="0" indent="0">
              <a:lnSpc>
                <a:spcPct val="112000"/>
              </a:lnSpc>
              <a:buNone/>
            </a:pPr>
            <a:r>
              <a:rPr lang="en-US" sz="1350" dirty="0">
                <a:solidFill>
                  <a:srgbClr val="E8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│   └── OrderRepository.java</a:t>
            </a:r>
            <a:endParaRPr lang="en-US" sz="1350" dirty="0"/>
          </a:p>
          <a:p>
            <a:pPr marL="0" indent="0">
              <a:lnSpc>
                <a:spcPct val="112000"/>
              </a:lnSpc>
              <a:buNone/>
            </a:pPr>
            <a:r>
              <a:rPr lang="en-US" sz="1350" dirty="0">
                <a:solidFill>
                  <a:srgbClr val="E8A33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└── web/</a:t>
            </a:r>
            <a:endParaRPr lang="en-US" sz="1350" dirty="0"/>
          </a:p>
          <a:p>
            <a:pPr marL="0" indent="0">
              <a:lnSpc>
                <a:spcPct val="112000"/>
              </a:lnSpc>
              <a:buNone/>
            </a:pPr>
            <a:r>
              <a:rPr lang="en-US" sz="1350" dirty="0">
                <a:solidFill>
                  <a:srgbClr val="E8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├── OrderController.java</a:t>
            </a:r>
            <a:endParaRPr lang="en-US" sz="1350" dirty="0"/>
          </a:p>
          <a:p>
            <a:pPr marL="0" indent="0">
              <a:lnSpc>
                <a:spcPct val="112000"/>
              </a:lnSpc>
              <a:buNone/>
            </a:pPr>
            <a:r>
              <a:rPr lang="en-US" sz="1350" dirty="0">
                <a:solidFill>
                  <a:srgbClr val="E8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└── dto/</a:t>
            </a:r>
            <a:endParaRPr lang="en-US" sz="1350" dirty="0"/>
          </a:p>
          <a:p>
            <a:pPr marL="0" indent="0">
              <a:lnSpc>
                <a:spcPct val="112000"/>
              </a:lnSpc>
              <a:buNone/>
            </a:pPr>
            <a:r>
              <a:rPr lang="en-US" sz="1350" dirty="0">
                <a:solidFill>
                  <a:srgbClr val="E8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├── CreateOrderRequest.java</a:t>
            </a:r>
            <a:endParaRPr lang="en-US" sz="1350" dirty="0"/>
          </a:p>
          <a:p>
            <a:pPr marL="0" indent="0">
              <a:lnSpc>
                <a:spcPct val="112000"/>
              </a:lnSpc>
              <a:buNone/>
            </a:pPr>
            <a:r>
              <a:rPr lang="en-US" sz="1350" dirty="0">
                <a:solidFill>
                  <a:srgbClr val="E8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└── OrderResponse.java</a:t>
            </a:r>
            <a:endParaRPr lang="en-US" sz="1350" dirty="0"/>
          </a:p>
        </p:txBody>
      </p:sp>
      <p:sp>
        <p:nvSpPr>
          <p:cNvPr id="6" name="Text 4"/>
          <p:cNvSpPr txBox="1"/>
          <p:nvPr/>
        </p:nvSpPr>
        <p:spPr>
          <a:xfrm>
            <a:off x="6172200" y="1508760"/>
            <a:ext cx="5486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B2A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Suffix conventions</a:t>
            </a:r>
            <a:endParaRPr lang="en-US" sz="1500" dirty="0"/>
          </a:p>
        </p:txBody>
      </p:sp>
      <p:sp>
        <p:nvSpPr>
          <p:cNvPr id="7" name="Shape 5"/>
          <p:cNvSpPr/>
          <p:nvPr/>
        </p:nvSpPr>
        <p:spPr>
          <a:xfrm>
            <a:off x="6172200" y="2011680"/>
            <a:ext cx="5486400" cy="749808"/>
          </a:xfrm>
          <a:prstGeom prst="roundRect">
            <a:avLst>
              <a:gd name="adj" fmla="val 9756"/>
            </a:avLst>
          </a:prstGeom>
          <a:solidFill>
            <a:srgbClr val="D8E3F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8" name="Text 6"/>
          <p:cNvSpPr txBox="1"/>
          <p:nvPr/>
        </p:nvSpPr>
        <p:spPr>
          <a:xfrm>
            <a:off x="6355080" y="2084832"/>
            <a:ext cx="5120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B2A4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&lt;Noun&gt;</a:t>
            </a:r>
            <a:endParaRPr lang="en-US" sz="1300" dirty="0"/>
          </a:p>
        </p:txBody>
      </p:sp>
      <p:sp>
        <p:nvSpPr>
          <p:cNvPr id="9" name="Text 7"/>
          <p:cNvSpPr txBox="1"/>
          <p:nvPr/>
        </p:nvSpPr>
        <p:spPr>
          <a:xfrm>
            <a:off x="6355080" y="2377440"/>
            <a:ext cx="5120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5B6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Domain object — Order, Invoice, Customer</a:t>
            </a:r>
            <a:endParaRPr lang="en-US" sz="1150" dirty="0"/>
          </a:p>
        </p:txBody>
      </p:sp>
      <p:sp>
        <p:nvSpPr>
          <p:cNvPr id="10" name="Shape 8"/>
          <p:cNvSpPr/>
          <p:nvPr/>
        </p:nvSpPr>
        <p:spPr>
          <a:xfrm>
            <a:off x="6172200" y="2889504"/>
            <a:ext cx="5486400" cy="749808"/>
          </a:xfrm>
          <a:prstGeom prst="roundRect">
            <a:avLst>
              <a:gd name="adj" fmla="val 9756"/>
            </a:avLst>
          </a:prstGeom>
          <a:solidFill>
            <a:srgbClr val="D8E3F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1" name="Text 9"/>
          <p:cNvSpPr txBox="1"/>
          <p:nvPr/>
        </p:nvSpPr>
        <p:spPr>
          <a:xfrm>
            <a:off x="6355080" y="2962656"/>
            <a:ext cx="5120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B2A4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&lt;Noun&gt;Validator</a:t>
            </a:r>
            <a:endParaRPr lang="en-US" sz="1300" dirty="0"/>
          </a:p>
        </p:txBody>
      </p:sp>
      <p:sp>
        <p:nvSpPr>
          <p:cNvPr id="12" name="Text 10"/>
          <p:cNvSpPr txBox="1"/>
          <p:nvPr/>
        </p:nvSpPr>
        <p:spPr>
          <a:xfrm>
            <a:off x="6355080" y="3255264"/>
            <a:ext cx="5120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5B6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Validator — OrderValidator</a:t>
            </a:r>
            <a:endParaRPr lang="en-US" sz="1150" dirty="0"/>
          </a:p>
        </p:txBody>
      </p:sp>
      <p:sp>
        <p:nvSpPr>
          <p:cNvPr id="13" name="Shape 11"/>
          <p:cNvSpPr/>
          <p:nvPr/>
        </p:nvSpPr>
        <p:spPr>
          <a:xfrm>
            <a:off x="6172200" y="3767328"/>
            <a:ext cx="5486400" cy="749808"/>
          </a:xfrm>
          <a:prstGeom prst="roundRect">
            <a:avLst>
              <a:gd name="adj" fmla="val 9756"/>
            </a:avLst>
          </a:prstGeom>
          <a:solidFill>
            <a:srgbClr val="D8E3F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4" name="Text 12"/>
          <p:cNvSpPr txBox="1"/>
          <p:nvPr/>
        </p:nvSpPr>
        <p:spPr>
          <a:xfrm>
            <a:off x="6355080" y="3840480"/>
            <a:ext cx="5120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B2A4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&lt;Noun&gt;Service</a:t>
            </a:r>
            <a:endParaRPr lang="en-US" sz="1300" dirty="0"/>
          </a:p>
        </p:txBody>
      </p:sp>
      <p:sp>
        <p:nvSpPr>
          <p:cNvPr id="15" name="Text 13"/>
          <p:cNvSpPr txBox="1"/>
          <p:nvPr/>
        </p:nvSpPr>
        <p:spPr>
          <a:xfrm>
            <a:off x="6355080" y="4133088"/>
            <a:ext cx="5120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5B6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Service — OrderService</a:t>
            </a:r>
            <a:endParaRPr lang="en-US" sz="1150" dirty="0"/>
          </a:p>
        </p:txBody>
      </p:sp>
      <p:sp>
        <p:nvSpPr>
          <p:cNvPr id="16" name="Shape 14"/>
          <p:cNvSpPr/>
          <p:nvPr/>
        </p:nvSpPr>
        <p:spPr>
          <a:xfrm>
            <a:off x="6172200" y="4645152"/>
            <a:ext cx="5486400" cy="749808"/>
          </a:xfrm>
          <a:prstGeom prst="roundRect">
            <a:avLst>
              <a:gd name="adj" fmla="val 9756"/>
            </a:avLst>
          </a:prstGeom>
          <a:solidFill>
            <a:srgbClr val="D8E3F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7" name="Text 15"/>
          <p:cNvSpPr txBox="1"/>
          <p:nvPr/>
        </p:nvSpPr>
        <p:spPr>
          <a:xfrm>
            <a:off x="6355080" y="4718304"/>
            <a:ext cx="5120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B2A4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&lt;Noun&gt;Repository</a:t>
            </a:r>
            <a:endParaRPr lang="en-US" sz="1300" dirty="0"/>
          </a:p>
        </p:txBody>
      </p:sp>
      <p:sp>
        <p:nvSpPr>
          <p:cNvPr id="18" name="Text 16"/>
          <p:cNvSpPr txBox="1"/>
          <p:nvPr/>
        </p:nvSpPr>
        <p:spPr>
          <a:xfrm>
            <a:off x="6355080" y="5010912"/>
            <a:ext cx="5120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5B6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Repository — OrderRepository</a:t>
            </a:r>
            <a:endParaRPr lang="en-US" sz="1150" dirty="0"/>
          </a:p>
        </p:txBody>
      </p:sp>
      <p:sp>
        <p:nvSpPr>
          <p:cNvPr id="19" name="Shape 17"/>
          <p:cNvSpPr/>
          <p:nvPr/>
        </p:nvSpPr>
        <p:spPr>
          <a:xfrm>
            <a:off x="6172200" y="5522976"/>
            <a:ext cx="5486400" cy="749808"/>
          </a:xfrm>
          <a:prstGeom prst="roundRect">
            <a:avLst>
              <a:gd name="adj" fmla="val 9756"/>
            </a:avLst>
          </a:prstGeom>
          <a:solidFill>
            <a:srgbClr val="D8E3F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0" name="Text 18"/>
          <p:cNvSpPr txBox="1"/>
          <p:nvPr/>
        </p:nvSpPr>
        <p:spPr>
          <a:xfrm>
            <a:off x="6355080" y="5596128"/>
            <a:ext cx="5120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B2A4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&lt;Noun&gt;Request / Response</a:t>
            </a:r>
            <a:endParaRPr lang="en-US" sz="1300" dirty="0"/>
          </a:p>
        </p:txBody>
      </p:sp>
      <p:sp>
        <p:nvSpPr>
          <p:cNvPr id="21" name="Text 19"/>
          <p:cNvSpPr txBox="1"/>
          <p:nvPr/>
        </p:nvSpPr>
        <p:spPr>
          <a:xfrm>
            <a:off x="6355080" y="5888736"/>
            <a:ext cx="5120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5B6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DTO — CreateOrderRequest</a:t>
            </a:r>
            <a:endParaRPr lang="en-US" sz="1150" dirty="0"/>
          </a:p>
        </p:txBody>
      </p:sp>
      <p:sp>
        <p:nvSpPr>
          <p:cNvPr id="22" name="Text 20"/>
          <p:cNvSpPr txBox="1"/>
          <p:nvPr/>
        </p:nvSpPr>
        <p:spPr>
          <a:xfrm>
            <a:off x="11475720" y="647395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5B6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16</a:t>
            </a:r>
            <a:endParaRPr lang="en-US" sz="10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FBFB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84048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E8A3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SUMMARY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58368"/>
            <a:ext cx="110642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B2A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Cheat sheet: one line per stereotype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1691640"/>
            <a:ext cx="11064240" cy="960120"/>
          </a:xfrm>
          <a:prstGeom prst="roundRect">
            <a:avLst>
              <a:gd name="adj" fmla="val 9524"/>
            </a:avLst>
          </a:prstGeom>
          <a:solidFill>
            <a:srgbClr val="FFFFFF"/>
          </a:solidFill>
          <a:ln w="12700">
            <a:solidFill>
              <a:srgbClr val="D8E3F0"/>
            </a:solidFill>
            <a:prstDash val="solid"/>
          </a:ln>
          <a:effectLst>
            <a:outerShdw blurRad="50800" dist="25400" dir="54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5" name="Shape 3"/>
          <p:cNvSpPr/>
          <p:nvPr/>
        </p:nvSpPr>
        <p:spPr>
          <a:xfrm>
            <a:off x="877824" y="1856232"/>
            <a:ext cx="621792" cy="621792"/>
          </a:xfrm>
          <a:prstGeom prst="ellipse">
            <a:avLst/>
          </a:prstGeom>
          <a:solidFill>
            <a:srgbClr val="E8A33D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6" name="Image 0" descr="/home/claude/deck/icon_domain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33272" y="2011680"/>
            <a:ext cx="310896" cy="310896"/>
          </a:xfrm>
          <a:prstGeom prst="rect">
            <a:avLst/>
          </a:prstGeom>
        </p:spPr>
      </p:pic>
      <p:sp>
        <p:nvSpPr>
          <p:cNvPr id="7" name="Text 4"/>
          <p:cNvSpPr txBox="1"/>
          <p:nvPr/>
        </p:nvSpPr>
        <p:spPr>
          <a:xfrm>
            <a:off x="1783080" y="1810512"/>
            <a:ext cx="2834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B2A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Domain Object</a:t>
            </a:r>
            <a:endParaRPr lang="en-US" sz="1600" dirty="0"/>
          </a:p>
        </p:txBody>
      </p:sp>
      <p:sp>
        <p:nvSpPr>
          <p:cNvPr id="8" name="Text 5"/>
          <p:cNvSpPr txBox="1"/>
          <p:nvPr/>
        </p:nvSpPr>
        <p:spPr>
          <a:xfrm>
            <a:off x="1783080" y="2167128"/>
            <a:ext cx="9418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Represents a business concept and enforces its own rules</a:t>
            </a:r>
            <a:endParaRPr lang="en-US" sz="1300" dirty="0"/>
          </a:p>
        </p:txBody>
      </p:sp>
      <p:sp>
        <p:nvSpPr>
          <p:cNvPr id="9" name="Shape 6"/>
          <p:cNvSpPr/>
          <p:nvPr/>
        </p:nvSpPr>
        <p:spPr>
          <a:xfrm>
            <a:off x="548640" y="2807208"/>
            <a:ext cx="11064240" cy="960120"/>
          </a:xfrm>
          <a:prstGeom prst="roundRect">
            <a:avLst>
              <a:gd name="adj" fmla="val 9524"/>
            </a:avLst>
          </a:prstGeom>
          <a:solidFill>
            <a:srgbClr val="FFFFFF"/>
          </a:solidFill>
          <a:ln w="12700">
            <a:solidFill>
              <a:srgbClr val="D8E3F0"/>
            </a:solidFill>
            <a:prstDash val="solid"/>
          </a:ln>
          <a:effectLst>
            <a:outerShdw blurRad="50800" dist="25400" dir="54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0" name="Shape 7"/>
          <p:cNvSpPr/>
          <p:nvPr/>
        </p:nvSpPr>
        <p:spPr>
          <a:xfrm>
            <a:off x="877824" y="2971800"/>
            <a:ext cx="621792" cy="621792"/>
          </a:xfrm>
          <a:prstGeom prst="ellipse">
            <a:avLst/>
          </a:prstGeom>
          <a:solidFill>
            <a:srgbClr val="1B2A4A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11" name="Image 1" descr="/home/claude/deck/icon_validator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33272" y="3127248"/>
            <a:ext cx="310896" cy="310896"/>
          </a:xfrm>
          <a:prstGeom prst="rect">
            <a:avLst/>
          </a:prstGeom>
        </p:spPr>
      </p:pic>
      <p:sp>
        <p:nvSpPr>
          <p:cNvPr id="12" name="Text 8"/>
          <p:cNvSpPr txBox="1"/>
          <p:nvPr/>
        </p:nvSpPr>
        <p:spPr>
          <a:xfrm>
            <a:off x="1783080" y="2926080"/>
            <a:ext cx="2834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B2A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Validator</a:t>
            </a:r>
            <a:endParaRPr lang="en-US" sz="1600" dirty="0"/>
          </a:p>
        </p:txBody>
      </p:sp>
      <p:sp>
        <p:nvSpPr>
          <p:cNvPr id="13" name="Text 9"/>
          <p:cNvSpPr txBox="1"/>
          <p:nvPr/>
        </p:nvSpPr>
        <p:spPr>
          <a:xfrm>
            <a:off x="1783080" y="3282696"/>
            <a:ext cx="9418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Answers "is this input acceptable?" — no side effects</a:t>
            </a:r>
            <a:endParaRPr lang="en-US" sz="1300" dirty="0"/>
          </a:p>
        </p:txBody>
      </p:sp>
      <p:sp>
        <p:nvSpPr>
          <p:cNvPr id="14" name="Shape 10"/>
          <p:cNvSpPr/>
          <p:nvPr/>
        </p:nvSpPr>
        <p:spPr>
          <a:xfrm>
            <a:off x="548640" y="3922776"/>
            <a:ext cx="11064240" cy="960120"/>
          </a:xfrm>
          <a:prstGeom prst="roundRect">
            <a:avLst>
              <a:gd name="adj" fmla="val 9524"/>
            </a:avLst>
          </a:prstGeom>
          <a:solidFill>
            <a:srgbClr val="FFFFFF"/>
          </a:solidFill>
          <a:ln w="12700">
            <a:solidFill>
              <a:srgbClr val="D8E3F0"/>
            </a:solidFill>
            <a:prstDash val="solid"/>
          </a:ln>
          <a:effectLst>
            <a:outerShdw blurRad="50800" dist="25400" dir="54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5" name="Shape 11"/>
          <p:cNvSpPr/>
          <p:nvPr/>
        </p:nvSpPr>
        <p:spPr>
          <a:xfrm>
            <a:off x="877824" y="4087368"/>
            <a:ext cx="621792" cy="621792"/>
          </a:xfrm>
          <a:prstGeom prst="ellipse">
            <a:avLst/>
          </a:prstGeom>
          <a:solidFill>
            <a:srgbClr val="1B2A4A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16" name="Image 2" descr="/home/claude/deck/icon_servic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033272" y="4242816"/>
            <a:ext cx="310896" cy="310896"/>
          </a:xfrm>
          <a:prstGeom prst="rect">
            <a:avLst/>
          </a:prstGeom>
        </p:spPr>
      </p:pic>
      <p:sp>
        <p:nvSpPr>
          <p:cNvPr id="17" name="Text 12"/>
          <p:cNvSpPr txBox="1"/>
          <p:nvPr/>
        </p:nvSpPr>
        <p:spPr>
          <a:xfrm>
            <a:off x="1783080" y="4041648"/>
            <a:ext cx="2834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B2A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Service</a:t>
            </a:r>
            <a:endParaRPr lang="en-US" sz="1600" dirty="0"/>
          </a:p>
        </p:txBody>
      </p:sp>
      <p:sp>
        <p:nvSpPr>
          <p:cNvPr id="18" name="Text 13"/>
          <p:cNvSpPr txBox="1"/>
          <p:nvPr/>
        </p:nvSpPr>
        <p:spPr>
          <a:xfrm>
            <a:off x="1783080" y="4398264"/>
            <a:ext cx="9418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Orchestrates a use case and owns the transaction</a:t>
            </a:r>
            <a:endParaRPr lang="en-US" sz="1300" dirty="0"/>
          </a:p>
        </p:txBody>
      </p:sp>
      <p:sp>
        <p:nvSpPr>
          <p:cNvPr id="19" name="Shape 14"/>
          <p:cNvSpPr/>
          <p:nvPr/>
        </p:nvSpPr>
        <p:spPr>
          <a:xfrm>
            <a:off x="548640" y="5038344"/>
            <a:ext cx="11064240" cy="960120"/>
          </a:xfrm>
          <a:prstGeom prst="roundRect">
            <a:avLst>
              <a:gd name="adj" fmla="val 9524"/>
            </a:avLst>
          </a:prstGeom>
          <a:solidFill>
            <a:srgbClr val="FFFFFF"/>
          </a:solidFill>
          <a:ln w="12700">
            <a:solidFill>
              <a:srgbClr val="D8E3F0"/>
            </a:solidFill>
            <a:prstDash val="solid"/>
          </a:ln>
          <a:effectLst>
            <a:outerShdw blurRad="50800" dist="25400" dir="54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0" name="Shape 15"/>
          <p:cNvSpPr/>
          <p:nvPr/>
        </p:nvSpPr>
        <p:spPr>
          <a:xfrm>
            <a:off x="877824" y="5202936"/>
            <a:ext cx="621792" cy="621792"/>
          </a:xfrm>
          <a:prstGeom prst="ellipse">
            <a:avLst/>
          </a:prstGeom>
          <a:solidFill>
            <a:srgbClr val="3E5C76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21" name="Image 3" descr="/home/claude/deck/icon_dao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033272" y="5358384"/>
            <a:ext cx="310896" cy="310896"/>
          </a:xfrm>
          <a:prstGeom prst="rect">
            <a:avLst/>
          </a:prstGeom>
        </p:spPr>
      </p:pic>
      <p:sp>
        <p:nvSpPr>
          <p:cNvPr id="22" name="Text 16"/>
          <p:cNvSpPr txBox="1"/>
          <p:nvPr/>
        </p:nvSpPr>
        <p:spPr>
          <a:xfrm>
            <a:off x="1783080" y="5157216"/>
            <a:ext cx="2834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B2A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Repository / DAO</a:t>
            </a:r>
            <a:endParaRPr lang="en-US" sz="1600" dirty="0"/>
          </a:p>
        </p:txBody>
      </p:sp>
      <p:sp>
        <p:nvSpPr>
          <p:cNvPr id="23" name="Text 17"/>
          <p:cNvSpPr txBox="1"/>
          <p:nvPr/>
        </p:nvSpPr>
        <p:spPr>
          <a:xfrm>
            <a:off x="1783080" y="5513832"/>
            <a:ext cx="9418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Reads and writes storage — nothing else</a:t>
            </a:r>
            <a:endParaRPr lang="en-US" sz="1300" dirty="0"/>
          </a:p>
        </p:txBody>
      </p:sp>
      <p:sp>
        <p:nvSpPr>
          <p:cNvPr id="24" name="Text 18"/>
          <p:cNvSpPr txBox="1"/>
          <p:nvPr/>
        </p:nvSpPr>
        <p:spPr>
          <a:xfrm>
            <a:off x="11475720" y="647395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5B6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17</a:t>
            </a:r>
            <a:endParaRPr lang="en-US" sz="100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1B2A4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3410712" cy="6858000"/>
          </a:xfrm>
          <a:prstGeom prst="rect">
            <a:avLst/>
          </a:prstGeom>
          <a:solidFill>
            <a:srgbClr val="3E5C76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2039112" cy="6858000"/>
          </a:xfrm>
          <a:prstGeom prst="rect">
            <a:avLst/>
          </a:prstGeom>
          <a:solidFill>
            <a:srgbClr val="4A6485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" name="Text 2"/>
          <p:cNvSpPr txBox="1"/>
          <p:nvPr/>
        </p:nvSpPr>
        <p:spPr>
          <a:xfrm>
            <a:off x="2926080" y="2468880"/>
            <a:ext cx="84124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4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Questions?</a:t>
            </a:r>
            <a:endParaRPr lang="en-US" sz="4000" dirty="0"/>
          </a:p>
        </p:txBody>
      </p:sp>
      <p:sp>
        <p:nvSpPr>
          <p:cNvPr id="5" name="Text 3"/>
          <p:cNvSpPr txBox="1"/>
          <p:nvPr/>
        </p:nvSpPr>
        <p:spPr>
          <a:xfrm>
            <a:off x="2926080" y="342900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D8E3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Before you write your next class, ask: which stereotype is this?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2926080" y="3246120"/>
            <a:ext cx="1005840" cy="0"/>
          </a:xfrm>
          <a:prstGeom prst="line">
            <a:avLst/>
          </a:prstGeom>
          <a:noFill/>
          <a:ln w="38100">
            <a:solidFill>
              <a:srgbClr val="E8A33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" name="Text 5"/>
          <p:cNvSpPr txBox="1"/>
          <p:nvPr/>
        </p:nvSpPr>
        <p:spPr>
          <a:xfrm>
            <a:off x="2926080" y="4023360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i="1" dirty="0">
                <a:solidFill>
                  <a:srgbClr val="E8A3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Domain Objects  ·  Validators  ·  Services  ·  Repositories</a:t>
            </a:r>
            <a:endParaRPr lang="en-US" sz="14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10</TotalTime>
  <Words>2076</Words>
  <Application>Microsoft Macintosh PowerPoint</Application>
  <PresentationFormat>Widescreen</PresentationFormat>
  <Paragraphs>317</Paragraphs>
  <Slides>18</Slides>
  <Notes>18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18</vt:i4>
      </vt:variant>
    </vt:vector>
  </HeadingPairs>
  <TitlesOfParts>
    <vt:vector size="23" baseType="lpstr">
      <vt:lpstr>Arial</vt:lpstr>
      <vt:lpstr>Calibri</vt:lpstr>
      <vt:lpstr>Cambria</vt:lpstr>
      <vt:lpstr>Consolas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Lester Martin</cp:lastModifiedBy>
  <cp:revision>4</cp:revision>
  <dcterms:created xsi:type="dcterms:W3CDTF">2026-09-15T13:27:14Z</dcterms:created>
  <dcterms:modified xsi:type="dcterms:W3CDTF">2026-09-15T13:43:02Z</dcterms:modified>
</cp:coreProperties>
</file>